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4" r:id="rId8"/>
    <p:sldId id="265" r:id="rId9"/>
    <p:sldId id="266" r:id="rId10"/>
    <p:sldId id="267" r:id="rId11"/>
    <p:sldId id="268" r:id="rId12"/>
    <p:sldId id="269" r:id="rId13"/>
    <p:sldId id="270" r:id="rId14"/>
    <p:sldId id="274"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0000"/>
    <a:srgbClr val="E9EBF5"/>
    <a:srgbClr val="6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5" autoAdjust="0"/>
    <p:restoredTop sz="94660"/>
  </p:normalViewPr>
  <p:slideViewPr>
    <p:cSldViewPr snapToGrid="0">
      <p:cViewPr varScale="1">
        <p:scale>
          <a:sx n="123" d="100"/>
          <a:sy n="123" d="100"/>
        </p:scale>
        <p:origin x="200" y="36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0633CCEC-4565-404A-874D-D3B87DA3B66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95823" y="301638"/>
            <a:ext cx="1304925" cy="334963"/>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C5C52588-F396-4FB4-BC12-B6FDA72F2B2D}"/>
              </a:ext>
            </a:extLst>
          </p:cNvPr>
          <p:cNvGrpSpPr/>
          <p:nvPr userDrawn="1"/>
        </p:nvGrpSpPr>
        <p:grpSpPr>
          <a:xfrm>
            <a:off x="213360" y="6289040"/>
            <a:ext cx="11785600" cy="422980"/>
            <a:chOff x="213360" y="6289040"/>
            <a:chExt cx="11785600" cy="422980"/>
          </a:xfrm>
        </p:grpSpPr>
        <p:sp>
          <p:nvSpPr>
            <p:cNvPr id="10" name="Rectangle 9">
              <a:extLst>
                <a:ext uri="{FF2B5EF4-FFF2-40B4-BE49-F238E27FC236}">
                  <a16:creationId xmlns:a16="http://schemas.microsoft.com/office/drawing/2014/main" id="{7D33931D-4EB4-499A-B4B4-3CDBC25249EE}"/>
                </a:ext>
              </a:extLst>
            </p:cNvPr>
            <p:cNvSpPr/>
            <p:nvPr userDrawn="1"/>
          </p:nvSpPr>
          <p:spPr>
            <a:xfrm>
              <a:off x="3896360" y="6435021"/>
              <a:ext cx="4399280" cy="276999"/>
            </a:xfrm>
            <a:prstGeom prst="rect">
              <a:avLst/>
            </a:prstGeom>
          </p:spPr>
          <p:txBody>
            <a:bodyPr wrap="square">
              <a:spAutoFit/>
            </a:bodyPr>
            <a:lstStyle/>
            <a:p>
              <a:pPr algn="ctr"/>
              <a:r>
                <a:rPr lang="en-US" sz="1200" b="1" dirty="0">
                  <a:solidFill>
                    <a:schemeClr val="bg1">
                      <a:lumMod val="50000"/>
                    </a:schemeClr>
                  </a:solidFill>
                </a:rPr>
                <a:t>Taniya Nath  |  </a:t>
              </a:r>
              <a:r>
                <a:rPr lang="en-US" sz="1200" dirty="0">
                  <a:solidFill>
                    <a:schemeClr val="bg1">
                      <a:lumMod val="50000"/>
                    </a:schemeClr>
                  </a:solidFill>
                </a:rPr>
                <a:t>Data Science Bootcamp | </a:t>
              </a:r>
              <a:r>
                <a:rPr lang="en-US" sz="1200" dirty="0" err="1">
                  <a:solidFill>
                    <a:schemeClr val="bg1">
                      <a:lumMod val="50000"/>
                    </a:schemeClr>
                  </a:solidFill>
                </a:rPr>
                <a:t>iNeuron</a:t>
              </a:r>
              <a:r>
                <a:rPr lang="en-US" sz="1200" dirty="0">
                  <a:solidFill>
                    <a:schemeClr val="bg1">
                      <a:lumMod val="50000"/>
                    </a:schemeClr>
                  </a:solidFill>
                </a:rPr>
                <a:t>  |  May 2022</a:t>
              </a:r>
            </a:p>
          </p:txBody>
        </p:sp>
        <p:cxnSp>
          <p:nvCxnSpPr>
            <p:cNvPr id="11" name="Straight Connector 10">
              <a:extLst>
                <a:ext uri="{FF2B5EF4-FFF2-40B4-BE49-F238E27FC236}">
                  <a16:creationId xmlns:a16="http://schemas.microsoft.com/office/drawing/2014/main" id="{C3A44C12-7422-4F08-97B0-0D5D6BB2462C}"/>
                </a:ext>
              </a:extLst>
            </p:cNvPr>
            <p:cNvCxnSpPr/>
            <p:nvPr userDrawn="1"/>
          </p:nvCxnSpPr>
          <p:spPr>
            <a:xfrm>
              <a:off x="213360" y="6289040"/>
              <a:ext cx="11785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08347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16A6F5-0711-4804-8971-BCBFBAF0A8C6}"/>
              </a:ext>
            </a:extLst>
          </p:cNvPr>
          <p:cNvSpPr/>
          <p:nvPr userDrawn="1"/>
        </p:nvSpPr>
        <p:spPr>
          <a:xfrm>
            <a:off x="0" y="301639"/>
            <a:ext cx="7622931" cy="870439"/>
          </a:xfrm>
          <a:prstGeom prst="rect">
            <a:avLst/>
          </a:prstGeom>
          <a:solidFill>
            <a:srgbClr val="6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2">
            <a:extLst>
              <a:ext uri="{FF2B5EF4-FFF2-40B4-BE49-F238E27FC236}">
                <a16:creationId xmlns:a16="http://schemas.microsoft.com/office/drawing/2014/main" id="{E3438B51-9C70-41FC-92DD-7563E85AC77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78175" y="301639"/>
            <a:ext cx="1222573" cy="313824"/>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E129EFE0-50BA-4BF3-8CD8-7513C06F3BC7}"/>
              </a:ext>
            </a:extLst>
          </p:cNvPr>
          <p:cNvGrpSpPr/>
          <p:nvPr userDrawn="1"/>
        </p:nvGrpSpPr>
        <p:grpSpPr>
          <a:xfrm>
            <a:off x="213360" y="6289040"/>
            <a:ext cx="11785600" cy="422980"/>
            <a:chOff x="213360" y="6289040"/>
            <a:chExt cx="11785600" cy="422980"/>
          </a:xfrm>
        </p:grpSpPr>
        <p:sp>
          <p:nvSpPr>
            <p:cNvPr id="14" name="Rectangle 13">
              <a:extLst>
                <a:ext uri="{FF2B5EF4-FFF2-40B4-BE49-F238E27FC236}">
                  <a16:creationId xmlns:a16="http://schemas.microsoft.com/office/drawing/2014/main" id="{16A21901-05FD-43C8-BE89-EB18750BDF57}"/>
                </a:ext>
              </a:extLst>
            </p:cNvPr>
            <p:cNvSpPr/>
            <p:nvPr userDrawn="1"/>
          </p:nvSpPr>
          <p:spPr>
            <a:xfrm>
              <a:off x="3896360" y="6435021"/>
              <a:ext cx="4399280" cy="276999"/>
            </a:xfrm>
            <a:prstGeom prst="rect">
              <a:avLst/>
            </a:prstGeom>
          </p:spPr>
          <p:txBody>
            <a:bodyPr wrap="square">
              <a:spAutoFit/>
            </a:bodyPr>
            <a:lstStyle/>
            <a:p>
              <a:pPr algn="ctr"/>
              <a:r>
                <a:rPr lang="en-US" sz="1200" b="1" dirty="0">
                  <a:solidFill>
                    <a:schemeClr val="bg1">
                      <a:lumMod val="50000"/>
                    </a:schemeClr>
                  </a:solidFill>
                </a:rPr>
                <a:t>Taniya Nath  |  </a:t>
              </a:r>
              <a:r>
                <a:rPr lang="en-US" sz="1200" dirty="0">
                  <a:solidFill>
                    <a:schemeClr val="bg1">
                      <a:lumMod val="50000"/>
                    </a:schemeClr>
                  </a:solidFill>
                </a:rPr>
                <a:t>Data Science Bootcamp | </a:t>
              </a:r>
              <a:r>
                <a:rPr lang="en-US" sz="1200" dirty="0" err="1">
                  <a:solidFill>
                    <a:schemeClr val="bg1">
                      <a:lumMod val="50000"/>
                    </a:schemeClr>
                  </a:solidFill>
                </a:rPr>
                <a:t>iNeuron</a:t>
              </a:r>
              <a:r>
                <a:rPr lang="en-US" sz="1200" dirty="0">
                  <a:solidFill>
                    <a:schemeClr val="bg1">
                      <a:lumMod val="50000"/>
                    </a:schemeClr>
                  </a:solidFill>
                </a:rPr>
                <a:t>  |  May 2022</a:t>
              </a:r>
            </a:p>
          </p:txBody>
        </p:sp>
        <p:cxnSp>
          <p:nvCxnSpPr>
            <p:cNvPr id="16" name="Straight Connector 15">
              <a:extLst>
                <a:ext uri="{FF2B5EF4-FFF2-40B4-BE49-F238E27FC236}">
                  <a16:creationId xmlns:a16="http://schemas.microsoft.com/office/drawing/2014/main" id="{BC0391F1-2A03-4F75-B7E0-2FCA41E06F9A}"/>
                </a:ext>
              </a:extLst>
            </p:cNvPr>
            <p:cNvCxnSpPr/>
            <p:nvPr userDrawn="1"/>
          </p:nvCxnSpPr>
          <p:spPr>
            <a:xfrm>
              <a:off x="213360" y="6289040"/>
              <a:ext cx="11785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7839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C5DE-C7EF-4C41-BE57-D5B3F2BBA9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17E206-7D4E-4588-8CFA-7CCA57778D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1D4814E-DC3A-434A-BBFB-AE531BECF33D}"/>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5" name="Footer Placeholder 4">
            <a:extLst>
              <a:ext uri="{FF2B5EF4-FFF2-40B4-BE49-F238E27FC236}">
                <a16:creationId xmlns:a16="http://schemas.microsoft.com/office/drawing/2014/main" id="{9CC40AD5-0669-4FBB-9D04-871E95DB6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CC8263-D149-4CD0-BB1A-86C83EE54253}"/>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3524589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4E2E3-E3E9-45BC-AD3B-2AA095D898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F3E68E-8F1E-4E37-AC6C-3FA4B1638C6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4E5F16-82CD-4037-8051-F06AA461064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240C87-68DB-4ECC-9357-DFB39728977F}"/>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6" name="Footer Placeholder 5">
            <a:extLst>
              <a:ext uri="{FF2B5EF4-FFF2-40B4-BE49-F238E27FC236}">
                <a16:creationId xmlns:a16="http://schemas.microsoft.com/office/drawing/2014/main" id="{6CA5AEAF-70DE-42BF-8DB1-F4F05AD7A3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A79BEB-DB80-4744-AC7E-9C8C5E5A5DD9}"/>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529604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932A-5BE5-49EE-B446-E7667A1F70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50C349-2844-4971-97F4-5892203403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6749B94-CC06-4E73-ACAF-D45C03F06E4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2283A7-60E7-4CC6-A73D-C2548E3BD9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A0AC23E-84EB-4770-A5EB-46CA72A987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0E00DD-5BF2-40CA-9684-0251C2C148FD}"/>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8" name="Footer Placeholder 7">
            <a:extLst>
              <a:ext uri="{FF2B5EF4-FFF2-40B4-BE49-F238E27FC236}">
                <a16:creationId xmlns:a16="http://schemas.microsoft.com/office/drawing/2014/main" id="{1BF3926B-6944-4B0F-942E-446A6FF2C4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EC9D3E-2CDA-4155-95FB-A370E58F9E13}"/>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342694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5D6D-BBDA-4C29-90CE-A0E9D731D5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4CB4E8-721C-421F-ACD1-6B855CD0B583}"/>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4" name="Footer Placeholder 3">
            <a:extLst>
              <a:ext uri="{FF2B5EF4-FFF2-40B4-BE49-F238E27FC236}">
                <a16:creationId xmlns:a16="http://schemas.microsoft.com/office/drawing/2014/main" id="{CCDF35DB-D1A6-4DFC-85AE-F87A10487C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C1475F-5813-48A6-8511-01883D454691}"/>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6623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5DD15B-5A28-45E8-81FD-99598F810E79}"/>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3" name="Footer Placeholder 2">
            <a:extLst>
              <a:ext uri="{FF2B5EF4-FFF2-40B4-BE49-F238E27FC236}">
                <a16:creationId xmlns:a16="http://schemas.microsoft.com/office/drawing/2014/main" id="{232FE73D-3AC6-4EDC-A1D5-93A1A24657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DA7381-0271-46D7-A42A-B156F7BEE542}"/>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2405942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5528-CD54-4DF8-AF73-FD52AAACF0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3B8043-FF9E-4032-A6E3-B2280D3D75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023A1-0BCE-4AFB-9BCD-6F58546647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604B206-F6BC-4251-9A7D-6A1C2E388AF3}"/>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6" name="Footer Placeholder 5">
            <a:extLst>
              <a:ext uri="{FF2B5EF4-FFF2-40B4-BE49-F238E27FC236}">
                <a16:creationId xmlns:a16="http://schemas.microsoft.com/office/drawing/2014/main" id="{B1AA2C28-9664-4152-A362-C0B9774C6C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C61350-94CA-41BD-BC13-52DE4A182211}"/>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2173452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61C9E-D446-47CA-AC41-0F86470AE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DB8022-5E84-4504-B256-197693653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A37232-4621-4F71-B484-2D83A5300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3A8B522-792F-4949-B366-A07BB9D0B57A}"/>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6" name="Footer Placeholder 5">
            <a:extLst>
              <a:ext uri="{FF2B5EF4-FFF2-40B4-BE49-F238E27FC236}">
                <a16:creationId xmlns:a16="http://schemas.microsoft.com/office/drawing/2014/main" id="{B7D71712-834B-4FE1-AA60-BEDC17F2BC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2E14F-63FD-499C-A497-9549ACA83A81}"/>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4166787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A876-1C2A-406F-96CB-983A00E88D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7D3F8EA-AA4D-4355-B147-4D8764034F2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9E5EA-FC28-44B0-9BEC-6A7498A44C05}"/>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5" name="Footer Placeholder 4">
            <a:extLst>
              <a:ext uri="{FF2B5EF4-FFF2-40B4-BE49-F238E27FC236}">
                <a16:creationId xmlns:a16="http://schemas.microsoft.com/office/drawing/2014/main" id="{4749A8EC-5116-465E-980B-CDD53065C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464F9-E05E-438C-9A96-AFE10438CF41}"/>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3739915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7F12B8-2CB8-406B-B28C-F555B2EFA8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68F849-5331-4B31-AF59-BBB6543E998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E46C5-DED5-4791-A35C-6020CF178F17}"/>
              </a:ext>
            </a:extLst>
          </p:cNvPr>
          <p:cNvSpPr>
            <a:spLocks noGrp="1"/>
          </p:cNvSpPr>
          <p:nvPr>
            <p:ph type="dt" sz="half" idx="10"/>
          </p:nvPr>
        </p:nvSpPr>
        <p:spPr/>
        <p:txBody>
          <a:bodyPr/>
          <a:lstStyle/>
          <a:p>
            <a:fld id="{B2EDAA84-BF0A-4124-A482-56A288E26308}" type="datetimeFigureOut">
              <a:rPr lang="en-US" smtClean="0"/>
              <a:t>5/13/22</a:t>
            </a:fld>
            <a:endParaRPr lang="en-US"/>
          </a:p>
        </p:txBody>
      </p:sp>
      <p:sp>
        <p:nvSpPr>
          <p:cNvPr id="5" name="Footer Placeholder 4">
            <a:extLst>
              <a:ext uri="{FF2B5EF4-FFF2-40B4-BE49-F238E27FC236}">
                <a16:creationId xmlns:a16="http://schemas.microsoft.com/office/drawing/2014/main" id="{51986D2C-3954-4ED9-8143-002323763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5A2FEE-E3E3-4CB0-88AE-ACA754F8FE77}"/>
              </a:ext>
            </a:extLst>
          </p:cNvPr>
          <p:cNvSpPr>
            <a:spLocks noGrp="1"/>
          </p:cNvSpPr>
          <p:nvPr>
            <p:ph type="sldNum" sz="quarter" idx="12"/>
          </p:nvPr>
        </p:nvSpPr>
        <p:spPr/>
        <p:txBody>
          <a:bodyPr/>
          <a:lstStyle/>
          <a:p>
            <a:fld id="{4B827571-3945-4FB9-A551-2521702A4A51}" type="slidenum">
              <a:rPr lang="en-US" smtClean="0"/>
              <a:t>‹#›</a:t>
            </a:fld>
            <a:endParaRPr lang="en-US"/>
          </a:p>
        </p:txBody>
      </p:sp>
    </p:spTree>
    <p:extLst>
      <p:ext uri="{BB962C8B-B14F-4D97-AF65-F5344CB8AC3E}">
        <p14:creationId xmlns:p14="http://schemas.microsoft.com/office/powerpoint/2010/main" val="712996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63463C-84AE-4AB8-B185-F9240BE46D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D6FC4-25F7-4A19-82DE-7AE3F9D8E8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26D67A-39E6-4BC2-9FAB-181D539329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EDAA84-BF0A-4124-A482-56A288E26308}" type="datetimeFigureOut">
              <a:rPr lang="en-US" smtClean="0"/>
              <a:t>5/13/22</a:t>
            </a:fld>
            <a:endParaRPr lang="en-US"/>
          </a:p>
        </p:txBody>
      </p:sp>
      <p:sp>
        <p:nvSpPr>
          <p:cNvPr id="5" name="Footer Placeholder 4">
            <a:extLst>
              <a:ext uri="{FF2B5EF4-FFF2-40B4-BE49-F238E27FC236}">
                <a16:creationId xmlns:a16="http://schemas.microsoft.com/office/drawing/2014/main" id="{D0F91D77-457E-4148-A4D2-B107B24B17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F88C73-96AC-431F-B1FB-CFB71E7D6B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7571-3945-4FB9-A551-2521702A4A51}" type="slidenum">
              <a:rPr lang="en-US" smtClean="0"/>
              <a:t>‹#›</a:t>
            </a:fld>
            <a:endParaRPr lang="en-US"/>
          </a:p>
        </p:txBody>
      </p:sp>
    </p:spTree>
    <p:extLst>
      <p:ext uri="{BB962C8B-B14F-4D97-AF65-F5344CB8AC3E}">
        <p14:creationId xmlns:p14="http://schemas.microsoft.com/office/powerpoint/2010/main" val="1171689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data.boston.gov/dataset/crime-incident-reports-august-2015-to-date-source-new-syste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1D10609-F804-441F-8329-3D666B952CB6}"/>
              </a:ext>
            </a:extLst>
          </p:cNvPr>
          <p:cNvSpPr txBox="1"/>
          <p:nvPr/>
        </p:nvSpPr>
        <p:spPr>
          <a:xfrm>
            <a:off x="3049550" y="2133077"/>
            <a:ext cx="7275179" cy="1200329"/>
          </a:xfrm>
          <a:prstGeom prst="rect">
            <a:avLst/>
          </a:prstGeom>
          <a:noFill/>
        </p:spPr>
        <p:txBody>
          <a:bodyPr wrap="square" lIns="0" rtlCol="0" anchor="ctr" anchorCtr="0">
            <a:spAutoFit/>
          </a:bodyPr>
          <a:lstStyle/>
          <a:p>
            <a:r>
              <a:rPr lang="en-US" sz="4000" b="1" dirty="0">
                <a:solidFill>
                  <a:srgbClr val="6B0000"/>
                </a:solidFill>
              </a:rPr>
              <a:t>Crime Analysis </a:t>
            </a:r>
          </a:p>
          <a:p>
            <a:r>
              <a:rPr lang="en-US" sz="3200" dirty="0">
                <a:solidFill>
                  <a:srgbClr val="5B6770"/>
                </a:solidFill>
              </a:rPr>
              <a:t>Detailed Project Report</a:t>
            </a:r>
          </a:p>
        </p:txBody>
      </p:sp>
      <p:sp>
        <p:nvSpPr>
          <p:cNvPr id="6" name="TextBox 5">
            <a:extLst>
              <a:ext uri="{FF2B5EF4-FFF2-40B4-BE49-F238E27FC236}">
                <a16:creationId xmlns:a16="http://schemas.microsoft.com/office/drawing/2014/main" id="{5559C0C6-0B84-4E9B-8143-1AD875C0F70A}"/>
              </a:ext>
            </a:extLst>
          </p:cNvPr>
          <p:cNvSpPr txBox="1"/>
          <p:nvPr/>
        </p:nvSpPr>
        <p:spPr>
          <a:xfrm>
            <a:off x="2951896" y="3613612"/>
            <a:ext cx="3993653" cy="954107"/>
          </a:xfrm>
          <a:prstGeom prst="rect">
            <a:avLst/>
          </a:prstGeom>
          <a:noFill/>
        </p:spPr>
        <p:txBody>
          <a:bodyPr wrap="square" rtlCol="0">
            <a:spAutoFit/>
          </a:bodyPr>
          <a:lstStyle/>
          <a:p>
            <a:r>
              <a:rPr lang="en-US" sz="2000" b="1" dirty="0"/>
              <a:t>Taniya Nath</a:t>
            </a:r>
          </a:p>
          <a:p>
            <a:r>
              <a:rPr lang="en-US" sz="2000" dirty="0"/>
              <a:t>Data Science Bootcamp | </a:t>
            </a:r>
            <a:r>
              <a:rPr lang="en-US" sz="2000" dirty="0" err="1"/>
              <a:t>iNeuron</a:t>
            </a:r>
            <a:endParaRPr lang="en-US" sz="2000" dirty="0"/>
          </a:p>
          <a:p>
            <a:r>
              <a:rPr lang="en-US" sz="1600" dirty="0"/>
              <a:t>May 2022</a:t>
            </a:r>
          </a:p>
        </p:txBody>
      </p:sp>
    </p:spTree>
    <p:extLst>
      <p:ext uri="{BB962C8B-B14F-4D97-AF65-F5344CB8AC3E}">
        <p14:creationId xmlns:p14="http://schemas.microsoft.com/office/powerpoint/2010/main" val="1724563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3123679" cy="548640"/>
          </a:xfrm>
          <a:prstGeom prst="rect">
            <a:avLst/>
          </a:prstGeom>
          <a:noFill/>
        </p:spPr>
        <p:txBody>
          <a:bodyPr wrap="square" lIns="0" rtlCol="0">
            <a:spAutoFit/>
          </a:bodyPr>
          <a:lstStyle/>
          <a:p>
            <a:r>
              <a:rPr lang="en-US" sz="2900" b="1" dirty="0">
                <a:solidFill>
                  <a:schemeClr val="bg1"/>
                </a:solidFill>
              </a:rPr>
              <a:t>Project Details</a:t>
            </a:r>
            <a:endParaRPr lang="en-US" sz="2900" b="1" dirty="0">
              <a:solidFill>
                <a:schemeClr val="bg1"/>
              </a:solidFill>
              <a:ea typeface="Montserrat Light" charset="0"/>
              <a:cs typeface="Montserrat Light" charset="0"/>
            </a:endParaRPr>
          </a:p>
        </p:txBody>
      </p:sp>
      <p:sp>
        <p:nvSpPr>
          <p:cNvPr id="6" name="TextBox 5">
            <a:extLst>
              <a:ext uri="{FF2B5EF4-FFF2-40B4-BE49-F238E27FC236}">
                <a16:creationId xmlns:a16="http://schemas.microsoft.com/office/drawing/2014/main" id="{07D4EA74-3580-4E10-BFEE-4756F964814C}"/>
              </a:ext>
            </a:extLst>
          </p:cNvPr>
          <p:cNvSpPr txBox="1"/>
          <p:nvPr/>
        </p:nvSpPr>
        <p:spPr>
          <a:xfrm>
            <a:off x="1715646" y="1684717"/>
            <a:ext cx="3211462" cy="2431435"/>
          </a:xfrm>
          <a:prstGeom prst="rect">
            <a:avLst/>
          </a:prstGeom>
          <a:noFill/>
        </p:spPr>
        <p:txBody>
          <a:bodyPr wrap="square" lIns="0" rtlCol="0" anchor="ctr" anchorCtr="0">
            <a:spAutoFit/>
          </a:bodyPr>
          <a:lstStyle/>
          <a:p>
            <a:r>
              <a:rPr lang="en-US" sz="2400" b="1" dirty="0">
                <a:solidFill>
                  <a:srgbClr val="6B0000"/>
                </a:solidFill>
              </a:rPr>
              <a:t>Project Title</a:t>
            </a:r>
            <a:endParaRPr lang="en-US" sz="1600" dirty="0"/>
          </a:p>
          <a:p>
            <a:r>
              <a:rPr lang="en-US" sz="1600" dirty="0"/>
              <a:t>Crime Analysis in Boston</a:t>
            </a:r>
          </a:p>
          <a:p>
            <a:endParaRPr lang="en-US" sz="1600" dirty="0"/>
          </a:p>
          <a:p>
            <a:r>
              <a:rPr lang="en-US" sz="2400" b="1" dirty="0">
                <a:solidFill>
                  <a:srgbClr val="6B0000"/>
                </a:solidFill>
              </a:rPr>
              <a:t>Technology</a:t>
            </a:r>
            <a:endParaRPr lang="en-US" sz="1600" dirty="0"/>
          </a:p>
          <a:p>
            <a:r>
              <a:rPr lang="en-US" sz="1600" dirty="0"/>
              <a:t>Business Intelligence</a:t>
            </a:r>
          </a:p>
          <a:p>
            <a:endParaRPr lang="en-US" sz="1600" dirty="0"/>
          </a:p>
          <a:p>
            <a:r>
              <a:rPr lang="en-US" sz="2400" b="1" dirty="0">
                <a:solidFill>
                  <a:srgbClr val="6B0000"/>
                </a:solidFill>
              </a:rPr>
              <a:t>Domain</a:t>
            </a:r>
            <a:endParaRPr lang="en-US" sz="1600" dirty="0"/>
          </a:p>
          <a:p>
            <a:r>
              <a:rPr lang="en-US" sz="1600" dirty="0"/>
              <a:t>Security</a:t>
            </a:r>
          </a:p>
        </p:txBody>
      </p:sp>
      <p:sp>
        <p:nvSpPr>
          <p:cNvPr id="7" name="TextBox 6">
            <a:extLst>
              <a:ext uri="{FF2B5EF4-FFF2-40B4-BE49-F238E27FC236}">
                <a16:creationId xmlns:a16="http://schemas.microsoft.com/office/drawing/2014/main" id="{1E03BDBF-71A6-4228-BE58-EEB989E52340}"/>
              </a:ext>
            </a:extLst>
          </p:cNvPr>
          <p:cNvSpPr txBox="1"/>
          <p:nvPr/>
        </p:nvSpPr>
        <p:spPr>
          <a:xfrm>
            <a:off x="5435389" y="1623162"/>
            <a:ext cx="4161372" cy="2554545"/>
          </a:xfrm>
          <a:prstGeom prst="rect">
            <a:avLst/>
          </a:prstGeom>
          <a:noFill/>
        </p:spPr>
        <p:txBody>
          <a:bodyPr wrap="square" lIns="0" rtlCol="0" anchor="ctr" anchorCtr="0">
            <a:spAutoFit/>
          </a:bodyPr>
          <a:lstStyle/>
          <a:p>
            <a:r>
              <a:rPr lang="en-US" sz="2400" b="1" dirty="0">
                <a:solidFill>
                  <a:srgbClr val="6B0000"/>
                </a:solidFill>
              </a:rPr>
              <a:t>Project Difficulty level</a:t>
            </a:r>
            <a:endParaRPr lang="en-US" sz="1600" dirty="0"/>
          </a:p>
          <a:p>
            <a:r>
              <a:rPr lang="en-US" sz="1600" dirty="0"/>
              <a:t>Difficult</a:t>
            </a:r>
          </a:p>
          <a:p>
            <a:endParaRPr lang="en-US" sz="2400" b="1" dirty="0">
              <a:solidFill>
                <a:srgbClr val="6B0000"/>
              </a:solidFill>
            </a:endParaRPr>
          </a:p>
          <a:p>
            <a:r>
              <a:rPr lang="en-US" sz="2400" b="1" dirty="0">
                <a:solidFill>
                  <a:srgbClr val="6B0000"/>
                </a:solidFill>
              </a:rPr>
              <a:t>Programming Language</a:t>
            </a:r>
          </a:p>
          <a:p>
            <a:r>
              <a:rPr lang="en-US" sz="1600" dirty="0"/>
              <a:t>Python</a:t>
            </a:r>
          </a:p>
          <a:p>
            <a:endParaRPr lang="en-US" sz="1600" dirty="0"/>
          </a:p>
          <a:p>
            <a:r>
              <a:rPr lang="en-US" sz="2400" b="1" dirty="0">
                <a:solidFill>
                  <a:srgbClr val="6B0000"/>
                </a:solidFill>
              </a:rPr>
              <a:t>Tools</a:t>
            </a:r>
            <a:endParaRPr lang="en-US" sz="1600" dirty="0"/>
          </a:p>
          <a:p>
            <a:r>
              <a:rPr lang="en-US" sz="1600" dirty="0" err="1"/>
              <a:t>Jupyter</a:t>
            </a:r>
            <a:r>
              <a:rPr lang="en-US" sz="1600" dirty="0"/>
              <a:t> Notebook, MS Excel, Tableau</a:t>
            </a:r>
          </a:p>
        </p:txBody>
      </p:sp>
    </p:spTree>
    <p:extLst>
      <p:ext uri="{BB962C8B-B14F-4D97-AF65-F5344CB8AC3E}">
        <p14:creationId xmlns:p14="http://schemas.microsoft.com/office/powerpoint/2010/main" val="227882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3123679" cy="548640"/>
          </a:xfrm>
          <a:prstGeom prst="rect">
            <a:avLst/>
          </a:prstGeom>
          <a:noFill/>
        </p:spPr>
        <p:txBody>
          <a:bodyPr wrap="square" lIns="0" rtlCol="0">
            <a:spAutoFit/>
          </a:bodyPr>
          <a:lstStyle/>
          <a:p>
            <a:r>
              <a:rPr lang="en-US" sz="2900" b="1" dirty="0">
                <a:solidFill>
                  <a:schemeClr val="bg1"/>
                </a:solidFill>
              </a:rPr>
              <a:t>Objectives</a:t>
            </a:r>
            <a:endParaRPr lang="en-US" sz="2900" b="1" dirty="0">
              <a:solidFill>
                <a:schemeClr val="bg1"/>
              </a:solidFill>
              <a:ea typeface="Montserrat Light" charset="0"/>
              <a:cs typeface="Montserrat Light" charset="0"/>
            </a:endParaRPr>
          </a:p>
        </p:txBody>
      </p:sp>
      <p:sp>
        <p:nvSpPr>
          <p:cNvPr id="6" name="TextBox 5">
            <a:extLst>
              <a:ext uri="{FF2B5EF4-FFF2-40B4-BE49-F238E27FC236}">
                <a16:creationId xmlns:a16="http://schemas.microsoft.com/office/drawing/2014/main" id="{07D4EA74-3580-4E10-BFEE-4756F964814C}"/>
              </a:ext>
            </a:extLst>
          </p:cNvPr>
          <p:cNvSpPr txBox="1"/>
          <p:nvPr/>
        </p:nvSpPr>
        <p:spPr>
          <a:xfrm>
            <a:off x="462900" y="1768787"/>
            <a:ext cx="9225849" cy="1446550"/>
          </a:xfrm>
          <a:prstGeom prst="rect">
            <a:avLst/>
          </a:prstGeom>
          <a:noFill/>
        </p:spPr>
        <p:txBody>
          <a:bodyPr wrap="square" lIns="0" rtlCol="0" anchor="ctr" anchorCtr="0">
            <a:spAutoFit/>
          </a:bodyPr>
          <a:lstStyle/>
          <a:p>
            <a:r>
              <a:rPr lang="en-US" sz="2400" dirty="0">
                <a:solidFill>
                  <a:srgbClr val="6B0000"/>
                </a:solidFill>
              </a:rPr>
              <a:t>The goal of this project is to investigate </a:t>
            </a:r>
            <a:r>
              <a:rPr lang="en-IN" sz="2400" dirty="0">
                <a:solidFill>
                  <a:srgbClr val="6B0000"/>
                </a:solidFill>
              </a:rPr>
              <a:t>Crime incident reports which are provided by Boston Police Department (BPD) to document the initial details surrounding an incident to which BPD officers respond. </a:t>
            </a:r>
          </a:p>
          <a:p>
            <a:endParaRPr lang="en-US" sz="1600" dirty="0"/>
          </a:p>
        </p:txBody>
      </p:sp>
    </p:spTree>
    <p:extLst>
      <p:ext uri="{BB962C8B-B14F-4D97-AF65-F5344CB8AC3E}">
        <p14:creationId xmlns:p14="http://schemas.microsoft.com/office/powerpoint/2010/main" val="598267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3123679" cy="548640"/>
          </a:xfrm>
          <a:prstGeom prst="rect">
            <a:avLst/>
          </a:prstGeom>
          <a:noFill/>
        </p:spPr>
        <p:txBody>
          <a:bodyPr wrap="square" lIns="0" rtlCol="0">
            <a:spAutoFit/>
          </a:bodyPr>
          <a:lstStyle/>
          <a:p>
            <a:r>
              <a:rPr lang="en-US" sz="2900" b="1" dirty="0">
                <a:solidFill>
                  <a:schemeClr val="bg1"/>
                </a:solidFill>
              </a:rPr>
              <a:t>Problem Statement</a:t>
            </a:r>
            <a:endParaRPr lang="en-US" sz="2900" b="1" dirty="0">
              <a:solidFill>
                <a:schemeClr val="bg1"/>
              </a:solidFill>
              <a:ea typeface="Montserrat Light" charset="0"/>
              <a:cs typeface="Montserrat Light" charset="0"/>
            </a:endParaRPr>
          </a:p>
        </p:txBody>
      </p:sp>
      <p:sp>
        <p:nvSpPr>
          <p:cNvPr id="6" name="TextBox 5">
            <a:extLst>
              <a:ext uri="{FF2B5EF4-FFF2-40B4-BE49-F238E27FC236}">
                <a16:creationId xmlns:a16="http://schemas.microsoft.com/office/drawing/2014/main" id="{07D4EA74-3580-4E10-BFEE-4756F964814C}"/>
              </a:ext>
            </a:extLst>
          </p:cNvPr>
          <p:cNvSpPr txBox="1"/>
          <p:nvPr/>
        </p:nvSpPr>
        <p:spPr>
          <a:xfrm>
            <a:off x="1478899" y="1410458"/>
            <a:ext cx="8654467" cy="3785652"/>
          </a:xfrm>
          <a:prstGeom prst="rect">
            <a:avLst/>
          </a:prstGeom>
          <a:noFill/>
        </p:spPr>
        <p:txBody>
          <a:bodyPr wrap="square" lIns="0" rtlCol="0" anchor="ctr" anchorCtr="0">
            <a:spAutoFit/>
          </a:bodyPr>
          <a:lstStyle/>
          <a:p>
            <a:pPr marL="342900" indent="-342900">
              <a:buFont typeface="Arial" panose="020B0604020202020204" pitchFamily="34" charset="0"/>
              <a:buChar char="•"/>
            </a:pPr>
            <a:r>
              <a:rPr lang="en-IN" sz="2400" dirty="0">
                <a:solidFill>
                  <a:srgbClr val="6B0000"/>
                </a:solidFill>
              </a:rPr>
              <a:t>Crime analysis is a law enforcement duty that involves a systematic investigation of patterns and trends in crime and disorder. Pattern information can help law enforcement organizations deploy resources more effectively and aid detectives in locating and apprehending criminals.</a:t>
            </a:r>
          </a:p>
          <a:p>
            <a:endParaRPr lang="en-IN" sz="2400" dirty="0">
              <a:solidFill>
                <a:srgbClr val="6B0000"/>
              </a:solidFill>
            </a:endParaRPr>
          </a:p>
          <a:p>
            <a:pPr marL="342900" indent="-342900">
              <a:buFont typeface="Arial" panose="020B0604020202020204" pitchFamily="34" charset="0"/>
              <a:buChar char="•"/>
            </a:pPr>
            <a:r>
              <a:rPr lang="en-IN" sz="2400" dirty="0">
                <a:solidFill>
                  <a:srgbClr val="6B0000"/>
                </a:solidFill>
              </a:rPr>
              <a:t>This is a dataset containing records from the new crime incident report system, which includes a reduced set of fields focused on capturing the type of incident as well as when and where it occurred.</a:t>
            </a:r>
            <a:endParaRPr lang="en-US" sz="2400" dirty="0">
              <a:solidFill>
                <a:srgbClr val="6B0000"/>
              </a:solidFill>
            </a:endParaRPr>
          </a:p>
        </p:txBody>
      </p:sp>
    </p:spTree>
    <p:extLst>
      <p:ext uri="{BB962C8B-B14F-4D97-AF65-F5344CB8AC3E}">
        <p14:creationId xmlns:p14="http://schemas.microsoft.com/office/powerpoint/2010/main" val="375288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3123679" cy="548640"/>
          </a:xfrm>
          <a:prstGeom prst="rect">
            <a:avLst/>
          </a:prstGeom>
          <a:noFill/>
        </p:spPr>
        <p:txBody>
          <a:bodyPr wrap="square" lIns="0" rtlCol="0">
            <a:spAutoFit/>
          </a:bodyPr>
          <a:lstStyle/>
          <a:p>
            <a:r>
              <a:rPr lang="en-US" sz="2900" b="1" dirty="0">
                <a:solidFill>
                  <a:schemeClr val="bg1"/>
                </a:solidFill>
              </a:rPr>
              <a:t>Architecture</a:t>
            </a:r>
            <a:endParaRPr lang="en-US" sz="2900" b="1" dirty="0">
              <a:solidFill>
                <a:schemeClr val="bg1"/>
              </a:solidFill>
              <a:ea typeface="Montserrat Light" charset="0"/>
              <a:cs typeface="Montserrat Light" charset="0"/>
            </a:endParaRPr>
          </a:p>
        </p:txBody>
      </p:sp>
      <p:pic>
        <p:nvPicPr>
          <p:cNvPr id="4" name="Picture 3">
            <a:extLst>
              <a:ext uri="{FF2B5EF4-FFF2-40B4-BE49-F238E27FC236}">
                <a16:creationId xmlns:a16="http://schemas.microsoft.com/office/drawing/2014/main" id="{96FDB578-3EFA-6BB6-CA7B-44D5972D5535}"/>
              </a:ext>
            </a:extLst>
          </p:cNvPr>
          <p:cNvPicPr>
            <a:picLocks noChangeAspect="1"/>
          </p:cNvPicPr>
          <p:nvPr/>
        </p:nvPicPr>
        <p:blipFill rotWithShape="1">
          <a:blip r:embed="rId2">
            <a:extLst>
              <a:ext uri="{28A0092B-C50C-407E-A947-70E740481C1C}">
                <a14:useLocalDpi xmlns:a14="http://schemas.microsoft.com/office/drawing/2010/main" val="0"/>
              </a:ext>
            </a:extLst>
          </a:blip>
          <a:srcRect t="-4" b="-4"/>
          <a:stretch/>
        </p:blipFill>
        <p:spPr>
          <a:xfrm>
            <a:off x="1915888" y="1615443"/>
            <a:ext cx="7810582" cy="3849185"/>
          </a:xfrm>
          <a:prstGeom prst="rect">
            <a:avLst/>
          </a:prstGeom>
          <a:ln>
            <a:solidFill>
              <a:schemeClr val="tx1"/>
            </a:solidFill>
          </a:ln>
        </p:spPr>
      </p:pic>
    </p:spTree>
    <p:extLst>
      <p:ext uri="{BB962C8B-B14F-4D97-AF65-F5344CB8AC3E}">
        <p14:creationId xmlns:p14="http://schemas.microsoft.com/office/powerpoint/2010/main" val="304756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3519820" cy="538609"/>
          </a:xfrm>
          <a:prstGeom prst="rect">
            <a:avLst/>
          </a:prstGeom>
          <a:noFill/>
        </p:spPr>
        <p:txBody>
          <a:bodyPr wrap="square" lIns="0" rtlCol="0">
            <a:spAutoFit/>
          </a:bodyPr>
          <a:lstStyle/>
          <a:p>
            <a:r>
              <a:rPr lang="en-US" sz="2900" b="1" dirty="0">
                <a:solidFill>
                  <a:schemeClr val="bg1"/>
                </a:solidFill>
              </a:rPr>
              <a:t>Dataset Information</a:t>
            </a:r>
            <a:endParaRPr lang="en-US" sz="2900" b="1" dirty="0">
              <a:solidFill>
                <a:schemeClr val="bg1"/>
              </a:solidFill>
              <a:ea typeface="Montserrat Light" charset="0"/>
              <a:cs typeface="Montserrat Light" charset="0"/>
            </a:endParaRPr>
          </a:p>
        </p:txBody>
      </p:sp>
      <p:sp>
        <p:nvSpPr>
          <p:cNvPr id="6" name="TextBox 5">
            <a:extLst>
              <a:ext uri="{FF2B5EF4-FFF2-40B4-BE49-F238E27FC236}">
                <a16:creationId xmlns:a16="http://schemas.microsoft.com/office/drawing/2014/main" id="{07D4EA74-3580-4E10-BFEE-4756F964814C}"/>
              </a:ext>
            </a:extLst>
          </p:cNvPr>
          <p:cNvSpPr txBox="1"/>
          <p:nvPr/>
        </p:nvSpPr>
        <p:spPr>
          <a:xfrm>
            <a:off x="1407581" y="717493"/>
            <a:ext cx="5150277" cy="4770537"/>
          </a:xfrm>
          <a:prstGeom prst="rect">
            <a:avLst/>
          </a:prstGeom>
          <a:noFill/>
        </p:spPr>
        <p:txBody>
          <a:bodyPr wrap="square" lIns="0" rtlCol="0" anchor="ctr" anchorCtr="0">
            <a:spAutoFit/>
          </a:bodyPr>
          <a:lstStyle/>
          <a:p>
            <a:endParaRPr lang="en-IN" sz="1600" dirty="0"/>
          </a:p>
          <a:p>
            <a:endParaRPr lang="en-IN" sz="1600" dirty="0"/>
          </a:p>
          <a:p>
            <a:endParaRPr lang="en-IN" sz="1600" dirty="0">
              <a:solidFill>
                <a:srgbClr val="6B0000"/>
              </a:solidFill>
            </a:endParaRPr>
          </a:p>
          <a:p>
            <a:r>
              <a:rPr lang="en-IN" sz="1600" b="1" dirty="0">
                <a:solidFill>
                  <a:srgbClr val="6B0000"/>
                </a:solidFill>
              </a:rPr>
              <a:t>INCIDENT_NUMBER: </a:t>
            </a:r>
            <a:r>
              <a:rPr lang="en-IN" sz="1600" dirty="0">
                <a:solidFill>
                  <a:srgbClr val="6B0000"/>
                </a:solidFill>
              </a:rPr>
              <a:t>The id of the crime committed. It is unique value for each crime.</a:t>
            </a:r>
          </a:p>
          <a:p>
            <a:endParaRPr lang="en-IN" sz="1600" b="1" dirty="0">
              <a:solidFill>
                <a:srgbClr val="6B0000"/>
              </a:solidFill>
            </a:endParaRPr>
          </a:p>
          <a:p>
            <a:r>
              <a:rPr lang="en-IN" sz="1600" b="1" dirty="0">
                <a:solidFill>
                  <a:srgbClr val="6B0000"/>
                </a:solidFill>
              </a:rPr>
              <a:t>OFFENSE_CODE: </a:t>
            </a:r>
            <a:r>
              <a:rPr lang="en-IN" sz="1600" dirty="0">
                <a:solidFill>
                  <a:srgbClr val="6B0000"/>
                </a:solidFill>
              </a:rPr>
              <a:t>It shows code of crime types.</a:t>
            </a:r>
          </a:p>
          <a:p>
            <a:endParaRPr lang="en-IN" sz="1600" dirty="0">
              <a:solidFill>
                <a:srgbClr val="6B0000"/>
              </a:solidFill>
            </a:endParaRPr>
          </a:p>
          <a:p>
            <a:r>
              <a:rPr lang="en-IN" sz="1600" b="1" dirty="0">
                <a:solidFill>
                  <a:srgbClr val="6B0000"/>
                </a:solidFill>
              </a:rPr>
              <a:t>OFFENSE_CODE_GROUP: </a:t>
            </a:r>
            <a:r>
              <a:rPr lang="en-IN" sz="1600" dirty="0">
                <a:solidFill>
                  <a:srgbClr val="6B0000"/>
                </a:solidFill>
              </a:rPr>
              <a:t>General crime types.</a:t>
            </a:r>
          </a:p>
          <a:p>
            <a:endParaRPr lang="en-IN" sz="1600" dirty="0">
              <a:solidFill>
                <a:srgbClr val="6B0000"/>
              </a:solidFill>
            </a:endParaRPr>
          </a:p>
          <a:p>
            <a:r>
              <a:rPr lang="en-IN" sz="1600" b="1" dirty="0">
                <a:solidFill>
                  <a:srgbClr val="6B0000"/>
                </a:solidFill>
              </a:rPr>
              <a:t>OFFENSE_DESCRIPTION: </a:t>
            </a:r>
            <a:r>
              <a:rPr lang="en-IN" sz="1600" dirty="0">
                <a:solidFill>
                  <a:srgbClr val="6B0000"/>
                </a:solidFill>
              </a:rPr>
              <a:t>Detailed explanation of the crime.</a:t>
            </a:r>
          </a:p>
          <a:p>
            <a:endParaRPr lang="en-IN" sz="1600" dirty="0">
              <a:solidFill>
                <a:srgbClr val="6B0000"/>
              </a:solidFill>
            </a:endParaRPr>
          </a:p>
          <a:p>
            <a:r>
              <a:rPr lang="en-IN" sz="1600" b="1" dirty="0">
                <a:solidFill>
                  <a:srgbClr val="6B0000"/>
                </a:solidFill>
              </a:rPr>
              <a:t>DISTRICT:</a:t>
            </a:r>
            <a:r>
              <a:rPr lang="en-IN" sz="1600" dirty="0">
                <a:solidFill>
                  <a:srgbClr val="6B0000"/>
                </a:solidFill>
              </a:rPr>
              <a:t> District name where the crime occurred.</a:t>
            </a:r>
          </a:p>
          <a:p>
            <a:endParaRPr lang="en-IN" sz="1600" dirty="0">
              <a:solidFill>
                <a:srgbClr val="6B0000"/>
              </a:solidFill>
            </a:endParaRPr>
          </a:p>
          <a:p>
            <a:r>
              <a:rPr lang="en-IN" sz="1600" b="1" dirty="0">
                <a:solidFill>
                  <a:srgbClr val="6B0000"/>
                </a:solidFill>
              </a:rPr>
              <a:t>REPORTING_AREA: </a:t>
            </a:r>
            <a:r>
              <a:rPr lang="en-IN" sz="1600" dirty="0">
                <a:solidFill>
                  <a:srgbClr val="6B0000"/>
                </a:solidFill>
              </a:rPr>
              <a:t>Area number that crime reported.</a:t>
            </a:r>
          </a:p>
          <a:p>
            <a:endParaRPr lang="en-IN" sz="1600" dirty="0">
              <a:solidFill>
                <a:srgbClr val="6B0000"/>
              </a:solidFill>
            </a:endParaRPr>
          </a:p>
          <a:p>
            <a:r>
              <a:rPr lang="en-IN" sz="1600" b="1" dirty="0">
                <a:solidFill>
                  <a:srgbClr val="6B0000"/>
                </a:solidFill>
              </a:rPr>
              <a:t>YEAR: </a:t>
            </a:r>
            <a:r>
              <a:rPr lang="en-IN" sz="1600" dirty="0">
                <a:solidFill>
                  <a:srgbClr val="6B0000"/>
                </a:solidFill>
              </a:rPr>
              <a:t>the year that crime </a:t>
            </a:r>
            <a:r>
              <a:rPr lang="en-IN" sz="1600" dirty="0" err="1">
                <a:solidFill>
                  <a:srgbClr val="6B0000"/>
                </a:solidFill>
              </a:rPr>
              <a:t>occured</a:t>
            </a:r>
            <a:r>
              <a:rPr lang="en-IN" sz="1600" dirty="0">
                <a:solidFill>
                  <a:srgbClr val="6B0000"/>
                </a:solidFill>
              </a:rPr>
              <a:t>. (2015,2016,2017,2018)</a:t>
            </a:r>
          </a:p>
          <a:p>
            <a:endParaRPr lang="en-IN" sz="1600" dirty="0">
              <a:solidFill>
                <a:srgbClr val="6B0000"/>
              </a:solidFill>
            </a:endParaRPr>
          </a:p>
          <a:p>
            <a:r>
              <a:rPr lang="en-IN" sz="1600" b="1" dirty="0">
                <a:solidFill>
                  <a:srgbClr val="6B0000"/>
                </a:solidFill>
              </a:rPr>
              <a:t>MONTH: </a:t>
            </a:r>
            <a:r>
              <a:rPr lang="en-IN" sz="1600" dirty="0">
                <a:solidFill>
                  <a:srgbClr val="6B0000"/>
                </a:solidFill>
              </a:rPr>
              <a:t>the month that crime </a:t>
            </a:r>
            <a:r>
              <a:rPr lang="en-IN" sz="1600" dirty="0" err="1">
                <a:solidFill>
                  <a:srgbClr val="6B0000"/>
                </a:solidFill>
              </a:rPr>
              <a:t>occured</a:t>
            </a:r>
            <a:r>
              <a:rPr lang="en-IN" sz="1600" dirty="0">
                <a:solidFill>
                  <a:srgbClr val="6B0000"/>
                </a:solidFill>
              </a:rPr>
              <a:t>.</a:t>
            </a:r>
          </a:p>
        </p:txBody>
      </p:sp>
      <p:sp>
        <p:nvSpPr>
          <p:cNvPr id="4" name="TextBox 3">
            <a:extLst>
              <a:ext uri="{FF2B5EF4-FFF2-40B4-BE49-F238E27FC236}">
                <a16:creationId xmlns:a16="http://schemas.microsoft.com/office/drawing/2014/main" id="{B6D8A0E6-44B8-4FBA-A17D-9D65AAD317F0}"/>
              </a:ext>
            </a:extLst>
          </p:cNvPr>
          <p:cNvSpPr txBox="1"/>
          <p:nvPr/>
        </p:nvSpPr>
        <p:spPr>
          <a:xfrm>
            <a:off x="6851570" y="717493"/>
            <a:ext cx="4426030" cy="4770537"/>
          </a:xfrm>
          <a:prstGeom prst="rect">
            <a:avLst/>
          </a:prstGeom>
          <a:noFill/>
        </p:spPr>
        <p:txBody>
          <a:bodyPr wrap="square" lIns="0" rtlCol="0" anchor="ctr" anchorCtr="0">
            <a:spAutoFit/>
          </a:bodyPr>
          <a:lstStyle/>
          <a:p>
            <a:endParaRPr lang="en-IN" sz="1600" dirty="0"/>
          </a:p>
          <a:p>
            <a:endParaRPr lang="en-IN" sz="1600" dirty="0"/>
          </a:p>
          <a:p>
            <a:endParaRPr lang="en-IN" sz="1600" dirty="0"/>
          </a:p>
          <a:p>
            <a:r>
              <a:rPr lang="en-IN" sz="1600" b="1" dirty="0">
                <a:solidFill>
                  <a:srgbClr val="6B0000"/>
                </a:solidFill>
              </a:rPr>
              <a:t>DAY OF WEEK: </a:t>
            </a:r>
            <a:r>
              <a:rPr lang="en-IN" sz="1600" dirty="0">
                <a:solidFill>
                  <a:srgbClr val="6B0000"/>
                </a:solidFill>
              </a:rPr>
              <a:t>the week that crime </a:t>
            </a:r>
            <a:r>
              <a:rPr lang="en-IN" sz="1600" dirty="0" err="1">
                <a:solidFill>
                  <a:srgbClr val="6B0000"/>
                </a:solidFill>
              </a:rPr>
              <a:t>occured</a:t>
            </a:r>
            <a:r>
              <a:rPr lang="en-IN" sz="1600" dirty="0">
                <a:solidFill>
                  <a:srgbClr val="6B0000"/>
                </a:solidFill>
              </a:rPr>
              <a:t>.</a:t>
            </a:r>
          </a:p>
          <a:p>
            <a:endParaRPr lang="en-IN" sz="1600" dirty="0">
              <a:solidFill>
                <a:srgbClr val="6B0000"/>
              </a:solidFill>
            </a:endParaRPr>
          </a:p>
          <a:p>
            <a:r>
              <a:rPr lang="en-IN" sz="1600" b="1" dirty="0">
                <a:solidFill>
                  <a:srgbClr val="6B0000"/>
                </a:solidFill>
              </a:rPr>
              <a:t>HOUR: </a:t>
            </a:r>
            <a:r>
              <a:rPr lang="en-IN" sz="1600" dirty="0">
                <a:solidFill>
                  <a:srgbClr val="6B0000"/>
                </a:solidFill>
              </a:rPr>
              <a:t>the hour that crime </a:t>
            </a:r>
            <a:r>
              <a:rPr lang="en-IN" sz="1600" dirty="0" err="1">
                <a:solidFill>
                  <a:srgbClr val="6B0000"/>
                </a:solidFill>
              </a:rPr>
              <a:t>occured</a:t>
            </a:r>
            <a:r>
              <a:rPr lang="en-IN" sz="1600" dirty="0">
                <a:solidFill>
                  <a:srgbClr val="6B0000"/>
                </a:solidFill>
              </a:rPr>
              <a:t>.</a:t>
            </a:r>
          </a:p>
          <a:p>
            <a:endParaRPr lang="en-IN" sz="1600" dirty="0">
              <a:solidFill>
                <a:srgbClr val="6B0000"/>
              </a:solidFill>
            </a:endParaRPr>
          </a:p>
          <a:p>
            <a:r>
              <a:rPr lang="en-IN" sz="1600" b="1" dirty="0">
                <a:solidFill>
                  <a:srgbClr val="6B0000"/>
                </a:solidFill>
              </a:rPr>
              <a:t>UCR_PART: </a:t>
            </a:r>
            <a:r>
              <a:rPr lang="en-IN" sz="1600" dirty="0">
                <a:solidFill>
                  <a:srgbClr val="6B0000"/>
                </a:solidFill>
              </a:rPr>
              <a:t>Uniform Crime Reporting Offence types. Part 1 contains the most dangerous and important crimes.</a:t>
            </a:r>
          </a:p>
          <a:p>
            <a:endParaRPr lang="en-IN" sz="1600" b="1" dirty="0">
              <a:solidFill>
                <a:srgbClr val="6B0000"/>
              </a:solidFill>
            </a:endParaRPr>
          </a:p>
          <a:p>
            <a:r>
              <a:rPr lang="en-IN" sz="1600" b="1" dirty="0">
                <a:solidFill>
                  <a:srgbClr val="6B0000"/>
                </a:solidFill>
              </a:rPr>
              <a:t>STREET: </a:t>
            </a:r>
            <a:r>
              <a:rPr lang="en-IN" sz="1600" dirty="0">
                <a:solidFill>
                  <a:srgbClr val="6B0000"/>
                </a:solidFill>
              </a:rPr>
              <a:t>the street where crime </a:t>
            </a:r>
            <a:r>
              <a:rPr lang="en-IN" sz="1600" dirty="0" err="1">
                <a:solidFill>
                  <a:srgbClr val="6B0000"/>
                </a:solidFill>
              </a:rPr>
              <a:t>occured</a:t>
            </a:r>
            <a:r>
              <a:rPr lang="en-IN" sz="1600" dirty="0">
                <a:solidFill>
                  <a:srgbClr val="6B0000"/>
                </a:solidFill>
              </a:rPr>
              <a:t>.</a:t>
            </a:r>
          </a:p>
          <a:p>
            <a:endParaRPr lang="en-IN" sz="1600" dirty="0">
              <a:solidFill>
                <a:srgbClr val="6B0000"/>
              </a:solidFill>
            </a:endParaRPr>
          </a:p>
          <a:p>
            <a:r>
              <a:rPr lang="en-IN" sz="1600" b="1" dirty="0">
                <a:solidFill>
                  <a:srgbClr val="6B0000"/>
                </a:solidFill>
              </a:rPr>
              <a:t>LAT:</a:t>
            </a:r>
            <a:r>
              <a:rPr lang="en-IN" sz="1600" dirty="0">
                <a:solidFill>
                  <a:srgbClr val="6B0000"/>
                </a:solidFill>
              </a:rPr>
              <a:t> the latitude where the crime occurred.</a:t>
            </a:r>
          </a:p>
          <a:p>
            <a:endParaRPr lang="en-IN" sz="1600" dirty="0">
              <a:solidFill>
                <a:srgbClr val="6B0000"/>
              </a:solidFill>
            </a:endParaRPr>
          </a:p>
          <a:p>
            <a:r>
              <a:rPr lang="en-IN" sz="1600" b="1" dirty="0">
                <a:solidFill>
                  <a:srgbClr val="6B0000"/>
                </a:solidFill>
              </a:rPr>
              <a:t>LONG: </a:t>
            </a:r>
            <a:r>
              <a:rPr lang="en-IN" sz="1600" dirty="0">
                <a:solidFill>
                  <a:srgbClr val="6B0000"/>
                </a:solidFill>
              </a:rPr>
              <a:t>the longitude where the crime occurred.</a:t>
            </a:r>
          </a:p>
          <a:p>
            <a:endParaRPr lang="en-IN" sz="1600" b="1" dirty="0">
              <a:solidFill>
                <a:srgbClr val="6B0000"/>
              </a:solidFill>
            </a:endParaRPr>
          </a:p>
          <a:p>
            <a:r>
              <a:rPr lang="en-IN" sz="1600" b="1" dirty="0">
                <a:solidFill>
                  <a:srgbClr val="6B0000"/>
                </a:solidFill>
              </a:rPr>
              <a:t>LOCATION: </a:t>
            </a:r>
            <a:r>
              <a:rPr lang="en-IN" sz="1600" dirty="0">
                <a:solidFill>
                  <a:srgbClr val="6B0000"/>
                </a:solidFill>
              </a:rPr>
              <a:t>the location where the crime occurred.(include latitude and longitude)</a:t>
            </a:r>
          </a:p>
        </p:txBody>
      </p:sp>
    </p:spTree>
    <p:extLst>
      <p:ext uri="{BB962C8B-B14F-4D97-AF65-F5344CB8AC3E}">
        <p14:creationId xmlns:p14="http://schemas.microsoft.com/office/powerpoint/2010/main" val="3971563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5" name="TextBox 4">
            <a:extLst>
              <a:ext uri="{FF2B5EF4-FFF2-40B4-BE49-F238E27FC236}">
                <a16:creationId xmlns:a16="http://schemas.microsoft.com/office/drawing/2014/main" id="{B05F185D-EC5E-45EF-9DEF-4E4F93B596AF}"/>
              </a:ext>
            </a:extLst>
          </p:cNvPr>
          <p:cNvSpPr txBox="1"/>
          <p:nvPr/>
        </p:nvSpPr>
        <p:spPr>
          <a:xfrm>
            <a:off x="330820" y="1751651"/>
            <a:ext cx="8654467" cy="461665"/>
          </a:xfrm>
          <a:prstGeom prst="rect">
            <a:avLst/>
          </a:prstGeom>
          <a:noFill/>
        </p:spPr>
        <p:txBody>
          <a:bodyPr wrap="square" lIns="0" rtlCol="0" anchor="ctr" anchorCtr="0">
            <a:spAutoFit/>
          </a:bodyPr>
          <a:lstStyle/>
          <a:p>
            <a:r>
              <a:rPr lang="en-US" sz="2400" b="1" dirty="0">
                <a:solidFill>
                  <a:srgbClr val="6B0000"/>
                </a:solidFill>
              </a:rPr>
              <a:t>1.	Top 10 Crimes in Boston</a:t>
            </a:r>
          </a:p>
        </p:txBody>
      </p:sp>
      <p:sp>
        <p:nvSpPr>
          <p:cNvPr id="8" name="TextBox 7">
            <a:extLst>
              <a:ext uri="{FF2B5EF4-FFF2-40B4-BE49-F238E27FC236}">
                <a16:creationId xmlns:a16="http://schemas.microsoft.com/office/drawing/2014/main" id="{91171618-06F2-4757-BF31-F6CC1296B4C8}"/>
              </a:ext>
            </a:extLst>
          </p:cNvPr>
          <p:cNvSpPr txBox="1"/>
          <p:nvPr/>
        </p:nvSpPr>
        <p:spPr>
          <a:xfrm>
            <a:off x="8596203" y="2904631"/>
            <a:ext cx="2549318" cy="2308324"/>
          </a:xfrm>
          <a:prstGeom prst="rect">
            <a:avLst/>
          </a:prstGeom>
          <a:noFill/>
        </p:spPr>
        <p:txBody>
          <a:bodyPr wrap="square" lIns="0" rtlCol="0" anchor="ctr" anchorCtr="0">
            <a:spAutoFit/>
          </a:bodyPr>
          <a:lstStyle/>
          <a:p>
            <a:r>
              <a:rPr lang="en-IN" dirty="0"/>
              <a:t>Here, we can see the crime incident that has happened the most frequently in Boston is “Motor Vehicle Accident Response,” and “Larceny” has also been taking place very frequently.</a:t>
            </a:r>
            <a:endParaRPr lang="en-US" dirty="0"/>
          </a:p>
        </p:txBody>
      </p:sp>
      <p:pic>
        <p:nvPicPr>
          <p:cNvPr id="4" name="Picture 3">
            <a:extLst>
              <a:ext uri="{FF2B5EF4-FFF2-40B4-BE49-F238E27FC236}">
                <a16:creationId xmlns:a16="http://schemas.microsoft.com/office/drawing/2014/main" id="{4BE62D41-C292-F494-2054-69575BF94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187" y="2346364"/>
            <a:ext cx="6888209" cy="3585504"/>
          </a:xfrm>
          <a:prstGeom prst="rect">
            <a:avLst/>
          </a:prstGeom>
        </p:spPr>
      </p:pic>
    </p:spTree>
    <p:extLst>
      <p:ext uri="{BB962C8B-B14F-4D97-AF65-F5344CB8AC3E}">
        <p14:creationId xmlns:p14="http://schemas.microsoft.com/office/powerpoint/2010/main" val="540839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5" name="TextBox 4">
            <a:extLst>
              <a:ext uri="{FF2B5EF4-FFF2-40B4-BE49-F238E27FC236}">
                <a16:creationId xmlns:a16="http://schemas.microsoft.com/office/drawing/2014/main" id="{B05F185D-EC5E-45EF-9DEF-4E4F93B596AF}"/>
              </a:ext>
            </a:extLst>
          </p:cNvPr>
          <p:cNvSpPr txBox="1"/>
          <p:nvPr/>
        </p:nvSpPr>
        <p:spPr>
          <a:xfrm>
            <a:off x="330820" y="1751651"/>
            <a:ext cx="8654467" cy="461665"/>
          </a:xfrm>
          <a:prstGeom prst="rect">
            <a:avLst/>
          </a:prstGeom>
          <a:noFill/>
        </p:spPr>
        <p:txBody>
          <a:bodyPr wrap="square" lIns="0" rtlCol="0" anchor="ctr" anchorCtr="0">
            <a:spAutoFit/>
          </a:bodyPr>
          <a:lstStyle/>
          <a:p>
            <a:r>
              <a:rPr lang="en-US" sz="2400" b="1" dirty="0">
                <a:solidFill>
                  <a:srgbClr val="6B0000"/>
                </a:solidFill>
              </a:rPr>
              <a:t>2.	</a:t>
            </a:r>
            <a:r>
              <a:rPr lang="en-IN" sz="2400" b="1" dirty="0">
                <a:solidFill>
                  <a:srgbClr val="6B0000"/>
                </a:solidFill>
              </a:rPr>
              <a:t> Percentage of Crimes per Year in Boston </a:t>
            </a:r>
            <a:endParaRPr lang="en-US" sz="2400" b="1" dirty="0">
              <a:solidFill>
                <a:srgbClr val="6B0000"/>
              </a:solidFill>
            </a:endParaRPr>
          </a:p>
        </p:txBody>
      </p:sp>
      <p:sp>
        <p:nvSpPr>
          <p:cNvPr id="8" name="TextBox 7">
            <a:extLst>
              <a:ext uri="{FF2B5EF4-FFF2-40B4-BE49-F238E27FC236}">
                <a16:creationId xmlns:a16="http://schemas.microsoft.com/office/drawing/2014/main" id="{91171618-06F2-4757-BF31-F6CC1296B4C8}"/>
              </a:ext>
            </a:extLst>
          </p:cNvPr>
          <p:cNvSpPr txBox="1"/>
          <p:nvPr/>
        </p:nvSpPr>
        <p:spPr>
          <a:xfrm>
            <a:off x="9256603" y="3458628"/>
            <a:ext cx="2549318" cy="1200329"/>
          </a:xfrm>
          <a:prstGeom prst="rect">
            <a:avLst/>
          </a:prstGeom>
          <a:noFill/>
        </p:spPr>
        <p:txBody>
          <a:bodyPr wrap="square" lIns="0" rtlCol="0" anchor="ctr" anchorCtr="0">
            <a:spAutoFit/>
          </a:bodyPr>
          <a:lstStyle/>
          <a:p>
            <a:pPr lvl="0"/>
            <a:r>
              <a:rPr lang="en-IN" dirty="0"/>
              <a:t>In 2017 Crime rate was more whereas In 2015 Crime rate is less in Boston.</a:t>
            </a:r>
            <a:endParaRPr lang="en-US" dirty="0"/>
          </a:p>
        </p:txBody>
      </p:sp>
      <p:pic>
        <p:nvPicPr>
          <p:cNvPr id="4" name="Picture 3">
            <a:extLst>
              <a:ext uri="{FF2B5EF4-FFF2-40B4-BE49-F238E27FC236}">
                <a16:creationId xmlns:a16="http://schemas.microsoft.com/office/drawing/2014/main" id="{4FB2A29C-6DED-46BC-18BF-413AE78EB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3273" y="2444885"/>
            <a:ext cx="6785042" cy="3518170"/>
          </a:xfrm>
          <a:prstGeom prst="rect">
            <a:avLst/>
          </a:prstGeom>
        </p:spPr>
      </p:pic>
    </p:spTree>
    <p:extLst>
      <p:ext uri="{BB962C8B-B14F-4D97-AF65-F5344CB8AC3E}">
        <p14:creationId xmlns:p14="http://schemas.microsoft.com/office/powerpoint/2010/main" val="1531840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5" name="TextBox 4">
            <a:extLst>
              <a:ext uri="{FF2B5EF4-FFF2-40B4-BE49-F238E27FC236}">
                <a16:creationId xmlns:a16="http://schemas.microsoft.com/office/drawing/2014/main" id="{B05F185D-EC5E-45EF-9DEF-4E4F93B596AF}"/>
              </a:ext>
            </a:extLst>
          </p:cNvPr>
          <p:cNvSpPr txBox="1"/>
          <p:nvPr/>
        </p:nvSpPr>
        <p:spPr>
          <a:xfrm>
            <a:off x="462900" y="1570068"/>
            <a:ext cx="8654467" cy="461665"/>
          </a:xfrm>
          <a:prstGeom prst="rect">
            <a:avLst/>
          </a:prstGeom>
          <a:noFill/>
        </p:spPr>
        <p:txBody>
          <a:bodyPr wrap="square" lIns="0" rtlCol="0" anchor="ctr" anchorCtr="0">
            <a:spAutoFit/>
          </a:bodyPr>
          <a:lstStyle/>
          <a:p>
            <a:r>
              <a:rPr lang="en-US" sz="2400" b="1" dirty="0">
                <a:solidFill>
                  <a:srgbClr val="6B0000"/>
                </a:solidFill>
              </a:rPr>
              <a:t>3.     Major Crime in Boston Per Month</a:t>
            </a:r>
          </a:p>
        </p:txBody>
      </p:sp>
      <p:sp>
        <p:nvSpPr>
          <p:cNvPr id="8" name="TextBox 7">
            <a:extLst>
              <a:ext uri="{FF2B5EF4-FFF2-40B4-BE49-F238E27FC236}">
                <a16:creationId xmlns:a16="http://schemas.microsoft.com/office/drawing/2014/main" id="{91171618-06F2-4757-BF31-F6CC1296B4C8}"/>
              </a:ext>
            </a:extLst>
          </p:cNvPr>
          <p:cNvSpPr txBox="1"/>
          <p:nvPr/>
        </p:nvSpPr>
        <p:spPr>
          <a:xfrm>
            <a:off x="8433880" y="3279279"/>
            <a:ext cx="2869660" cy="923330"/>
          </a:xfrm>
          <a:prstGeom prst="rect">
            <a:avLst/>
          </a:prstGeom>
          <a:noFill/>
        </p:spPr>
        <p:txBody>
          <a:bodyPr wrap="square" lIns="0" rtlCol="0" anchor="ctr" anchorCtr="0">
            <a:spAutoFit/>
          </a:bodyPr>
          <a:lstStyle/>
          <a:p>
            <a:r>
              <a:rPr lang="en-IN" dirty="0"/>
              <a:t>In the month of July and August the Crime rate is very high in Boston.</a:t>
            </a:r>
          </a:p>
        </p:txBody>
      </p:sp>
      <p:pic>
        <p:nvPicPr>
          <p:cNvPr id="4" name="Picture 3">
            <a:extLst>
              <a:ext uri="{FF2B5EF4-FFF2-40B4-BE49-F238E27FC236}">
                <a16:creationId xmlns:a16="http://schemas.microsoft.com/office/drawing/2014/main" id="{D74BFB75-771A-2BA7-A2C1-78BB420A0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20" y="2155285"/>
            <a:ext cx="8000729" cy="3642400"/>
          </a:xfrm>
          <a:prstGeom prst="rect">
            <a:avLst/>
          </a:prstGeom>
        </p:spPr>
      </p:pic>
    </p:spTree>
    <p:extLst>
      <p:ext uri="{BB962C8B-B14F-4D97-AF65-F5344CB8AC3E}">
        <p14:creationId xmlns:p14="http://schemas.microsoft.com/office/powerpoint/2010/main" val="2486638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5" name="TextBox 4">
            <a:extLst>
              <a:ext uri="{FF2B5EF4-FFF2-40B4-BE49-F238E27FC236}">
                <a16:creationId xmlns:a16="http://schemas.microsoft.com/office/drawing/2014/main" id="{B05F185D-EC5E-45EF-9DEF-4E4F93B596AF}"/>
              </a:ext>
            </a:extLst>
          </p:cNvPr>
          <p:cNvSpPr txBox="1"/>
          <p:nvPr/>
        </p:nvSpPr>
        <p:spPr>
          <a:xfrm>
            <a:off x="330820" y="1660211"/>
            <a:ext cx="10615670" cy="461665"/>
          </a:xfrm>
          <a:prstGeom prst="rect">
            <a:avLst/>
          </a:prstGeom>
          <a:noFill/>
        </p:spPr>
        <p:txBody>
          <a:bodyPr wrap="square" lIns="0" rtlCol="0" anchor="ctr" anchorCtr="0">
            <a:spAutoFit/>
          </a:bodyPr>
          <a:lstStyle/>
          <a:p>
            <a:r>
              <a:rPr lang="en-US" sz="2400" b="1" dirty="0">
                <a:solidFill>
                  <a:srgbClr val="6B0000"/>
                </a:solidFill>
              </a:rPr>
              <a:t>5.   Major Crime in Boston Per Day</a:t>
            </a:r>
          </a:p>
        </p:txBody>
      </p:sp>
      <p:sp>
        <p:nvSpPr>
          <p:cNvPr id="8" name="TextBox 7">
            <a:extLst>
              <a:ext uri="{FF2B5EF4-FFF2-40B4-BE49-F238E27FC236}">
                <a16:creationId xmlns:a16="http://schemas.microsoft.com/office/drawing/2014/main" id="{91171618-06F2-4757-BF31-F6CC1296B4C8}"/>
              </a:ext>
            </a:extLst>
          </p:cNvPr>
          <p:cNvSpPr txBox="1"/>
          <p:nvPr/>
        </p:nvSpPr>
        <p:spPr>
          <a:xfrm>
            <a:off x="7112842" y="1649167"/>
            <a:ext cx="3756771" cy="4524315"/>
          </a:xfrm>
          <a:prstGeom prst="rect">
            <a:avLst/>
          </a:prstGeom>
          <a:noFill/>
        </p:spPr>
        <p:txBody>
          <a:bodyPr wrap="square" lIns="0" rtlCol="0" anchor="ctr" anchorCtr="0">
            <a:spAutoFit/>
          </a:bodyPr>
          <a:lstStyle/>
          <a:p>
            <a:pPr>
              <a:lnSpc>
                <a:spcPct val="150000"/>
              </a:lnSpc>
            </a:pPr>
            <a:r>
              <a:rPr lang="en-IN" dirty="0"/>
              <a:t>Crime rate is high on Friday in Boston. It seems that the crime was triggered by the fact that many people were out on Friday night due to Saturday being a holiday. Other days there is no significant difference, but Sunday has the lowest rate. Also, the fact that most of the people spend their Sunday at home may be a factor that reduces crime.</a:t>
            </a:r>
          </a:p>
          <a:p>
            <a:pPr lvl="0"/>
            <a:endParaRPr lang="en-US" dirty="0"/>
          </a:p>
        </p:txBody>
      </p:sp>
      <p:pic>
        <p:nvPicPr>
          <p:cNvPr id="4" name="Picture 3">
            <a:extLst>
              <a:ext uri="{FF2B5EF4-FFF2-40B4-BE49-F238E27FC236}">
                <a16:creationId xmlns:a16="http://schemas.microsoft.com/office/drawing/2014/main" id="{AFFF50EA-A960-A94D-7401-4BF2CFCFF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900" y="2432726"/>
            <a:ext cx="5704436" cy="3276600"/>
          </a:xfrm>
          <a:prstGeom prst="rect">
            <a:avLst/>
          </a:prstGeom>
        </p:spPr>
      </p:pic>
    </p:spTree>
    <p:extLst>
      <p:ext uri="{BB962C8B-B14F-4D97-AF65-F5344CB8AC3E}">
        <p14:creationId xmlns:p14="http://schemas.microsoft.com/office/powerpoint/2010/main" val="4001916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8" name="TextBox 7">
            <a:extLst>
              <a:ext uri="{FF2B5EF4-FFF2-40B4-BE49-F238E27FC236}">
                <a16:creationId xmlns:a16="http://schemas.microsoft.com/office/drawing/2014/main" id="{91171618-06F2-4757-BF31-F6CC1296B4C8}"/>
              </a:ext>
            </a:extLst>
          </p:cNvPr>
          <p:cNvSpPr txBox="1"/>
          <p:nvPr/>
        </p:nvSpPr>
        <p:spPr>
          <a:xfrm>
            <a:off x="8607011" y="3056096"/>
            <a:ext cx="2386757" cy="1477328"/>
          </a:xfrm>
          <a:prstGeom prst="rect">
            <a:avLst/>
          </a:prstGeom>
          <a:noFill/>
        </p:spPr>
        <p:txBody>
          <a:bodyPr wrap="square" lIns="0" rtlCol="0" anchor="ctr" anchorCtr="0">
            <a:spAutoFit/>
          </a:bodyPr>
          <a:lstStyle/>
          <a:p>
            <a:r>
              <a:rPr lang="en-IN" dirty="0"/>
              <a:t>B2,C11,D4 and A1 districts has the majority crime numbers in Motor Vehicle Accident, and </a:t>
            </a:r>
            <a:r>
              <a:rPr lang="en-IN" dirty="0" err="1"/>
              <a:t>Larcency</a:t>
            </a:r>
            <a:r>
              <a:rPr lang="en-IN" dirty="0"/>
              <a:t>.</a:t>
            </a:r>
          </a:p>
        </p:txBody>
      </p:sp>
      <p:pic>
        <p:nvPicPr>
          <p:cNvPr id="7" name="Picture 6">
            <a:extLst>
              <a:ext uri="{FF2B5EF4-FFF2-40B4-BE49-F238E27FC236}">
                <a16:creationId xmlns:a16="http://schemas.microsoft.com/office/drawing/2014/main" id="{CCE384DD-9FB2-2D5E-0814-D32820BAC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434" y="2338442"/>
            <a:ext cx="5634260" cy="3822039"/>
          </a:xfrm>
          <a:prstGeom prst="rect">
            <a:avLst/>
          </a:prstGeom>
        </p:spPr>
      </p:pic>
      <p:sp>
        <p:nvSpPr>
          <p:cNvPr id="4" name="TextBox 3">
            <a:extLst>
              <a:ext uri="{FF2B5EF4-FFF2-40B4-BE49-F238E27FC236}">
                <a16:creationId xmlns:a16="http://schemas.microsoft.com/office/drawing/2014/main" id="{E5895B07-50A8-29D3-3E44-10A6503E239A}"/>
              </a:ext>
            </a:extLst>
          </p:cNvPr>
          <p:cNvSpPr txBox="1"/>
          <p:nvPr/>
        </p:nvSpPr>
        <p:spPr>
          <a:xfrm>
            <a:off x="1608434" y="1548245"/>
            <a:ext cx="7879939" cy="461665"/>
          </a:xfrm>
          <a:prstGeom prst="rect">
            <a:avLst/>
          </a:prstGeom>
          <a:noFill/>
        </p:spPr>
        <p:txBody>
          <a:bodyPr wrap="square" rtlCol="0">
            <a:spAutoFit/>
          </a:bodyPr>
          <a:lstStyle/>
          <a:p>
            <a:r>
              <a:rPr lang="en-US" sz="2400" b="1" dirty="0">
                <a:solidFill>
                  <a:srgbClr val="6B0000"/>
                </a:solidFill>
              </a:rPr>
              <a:t>6. District wise Crime in Boston</a:t>
            </a:r>
          </a:p>
        </p:txBody>
      </p:sp>
    </p:spTree>
    <p:extLst>
      <p:ext uri="{BB962C8B-B14F-4D97-AF65-F5344CB8AC3E}">
        <p14:creationId xmlns:p14="http://schemas.microsoft.com/office/powerpoint/2010/main" val="4131763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5" name="TextBox 4">
            <a:extLst>
              <a:ext uri="{FF2B5EF4-FFF2-40B4-BE49-F238E27FC236}">
                <a16:creationId xmlns:a16="http://schemas.microsoft.com/office/drawing/2014/main" id="{B05F185D-EC5E-45EF-9DEF-4E4F93B596AF}"/>
              </a:ext>
            </a:extLst>
          </p:cNvPr>
          <p:cNvSpPr txBox="1"/>
          <p:nvPr/>
        </p:nvSpPr>
        <p:spPr>
          <a:xfrm>
            <a:off x="330820" y="1406579"/>
            <a:ext cx="11759580" cy="461665"/>
          </a:xfrm>
          <a:prstGeom prst="rect">
            <a:avLst/>
          </a:prstGeom>
          <a:noFill/>
        </p:spPr>
        <p:txBody>
          <a:bodyPr wrap="square" lIns="0" rtlCol="0" anchor="ctr" anchorCtr="0">
            <a:spAutoFit/>
          </a:bodyPr>
          <a:lstStyle/>
          <a:p>
            <a:r>
              <a:rPr lang="en-US" sz="2400" b="1" dirty="0">
                <a:solidFill>
                  <a:srgbClr val="6B0000"/>
                </a:solidFill>
              </a:rPr>
              <a:t>7.   Crimes in Boston</a:t>
            </a:r>
          </a:p>
        </p:txBody>
      </p:sp>
      <p:sp>
        <p:nvSpPr>
          <p:cNvPr id="8" name="TextBox 7">
            <a:extLst>
              <a:ext uri="{FF2B5EF4-FFF2-40B4-BE49-F238E27FC236}">
                <a16:creationId xmlns:a16="http://schemas.microsoft.com/office/drawing/2014/main" id="{91171618-06F2-4757-BF31-F6CC1296B4C8}"/>
              </a:ext>
            </a:extLst>
          </p:cNvPr>
          <p:cNvSpPr txBox="1"/>
          <p:nvPr/>
        </p:nvSpPr>
        <p:spPr>
          <a:xfrm>
            <a:off x="7651322" y="3009038"/>
            <a:ext cx="3222744" cy="1754326"/>
          </a:xfrm>
          <a:prstGeom prst="rect">
            <a:avLst/>
          </a:prstGeom>
          <a:noFill/>
        </p:spPr>
        <p:txBody>
          <a:bodyPr wrap="square" lIns="0" rtlCol="0" anchor="ctr" anchorCtr="0">
            <a:spAutoFit/>
          </a:bodyPr>
          <a:lstStyle/>
          <a:p>
            <a:pPr lvl="0"/>
            <a:r>
              <a:rPr lang="en-US" dirty="0"/>
              <a:t>There were various types of crime which took place in Boston. They are like Motor Vehicle Accident, Larceny, Medical Assistance, Vandalism, Simple Assault, Towed, Drug etc.</a:t>
            </a:r>
          </a:p>
        </p:txBody>
      </p:sp>
      <p:pic>
        <p:nvPicPr>
          <p:cNvPr id="4" name="Picture 3">
            <a:extLst>
              <a:ext uri="{FF2B5EF4-FFF2-40B4-BE49-F238E27FC236}">
                <a16:creationId xmlns:a16="http://schemas.microsoft.com/office/drawing/2014/main" id="{C03EBBA0-A766-3C62-C84C-8CFF83C92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322" y="1913985"/>
            <a:ext cx="7112000" cy="4457700"/>
          </a:xfrm>
          <a:prstGeom prst="rect">
            <a:avLst/>
          </a:prstGeom>
        </p:spPr>
      </p:pic>
    </p:spTree>
    <p:extLst>
      <p:ext uri="{BB962C8B-B14F-4D97-AF65-F5344CB8AC3E}">
        <p14:creationId xmlns:p14="http://schemas.microsoft.com/office/powerpoint/2010/main" val="3207156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and Insights</a:t>
            </a:r>
            <a:endParaRPr lang="en-US" sz="2900" dirty="0">
              <a:solidFill>
                <a:schemeClr val="bg1"/>
              </a:solidFill>
              <a:ea typeface="Montserrat Light" charset="0"/>
              <a:cs typeface="Montserrat Light" charset="0"/>
            </a:endParaRPr>
          </a:p>
        </p:txBody>
      </p:sp>
      <p:sp>
        <p:nvSpPr>
          <p:cNvPr id="8" name="TextBox 7">
            <a:extLst>
              <a:ext uri="{FF2B5EF4-FFF2-40B4-BE49-F238E27FC236}">
                <a16:creationId xmlns:a16="http://schemas.microsoft.com/office/drawing/2014/main" id="{91171618-06F2-4757-BF31-F6CC1296B4C8}"/>
              </a:ext>
            </a:extLst>
          </p:cNvPr>
          <p:cNvSpPr txBox="1"/>
          <p:nvPr/>
        </p:nvSpPr>
        <p:spPr>
          <a:xfrm>
            <a:off x="8333509" y="2612857"/>
            <a:ext cx="3117273" cy="2585323"/>
          </a:xfrm>
          <a:prstGeom prst="rect">
            <a:avLst/>
          </a:prstGeom>
          <a:noFill/>
        </p:spPr>
        <p:txBody>
          <a:bodyPr wrap="square" lIns="0" rtlCol="0" anchor="ctr" anchorCtr="0">
            <a:spAutoFit/>
          </a:bodyPr>
          <a:lstStyle/>
          <a:p>
            <a:r>
              <a:rPr lang="en-IN" dirty="0"/>
              <a:t>Let's look at the time variable. The crime rate increases at noon (12:00) and after work hours (16: 00,17: 00,18: 00) on weekdays. The crime rate increases at 00:00 on weekends, </a:t>
            </a:r>
            <a:r>
              <a:rPr lang="en-IN" dirty="0" err="1"/>
              <a:t>i.e</a:t>
            </a:r>
            <a:r>
              <a:rPr lang="en-IN" dirty="0"/>
              <a:t> Fridays, Saturdays and Sundays.</a:t>
            </a:r>
            <a:br>
              <a:rPr lang="en-IN" dirty="0"/>
            </a:br>
            <a:endParaRPr lang="en-US" dirty="0"/>
          </a:p>
        </p:txBody>
      </p:sp>
      <p:pic>
        <p:nvPicPr>
          <p:cNvPr id="4" name="Picture 3">
            <a:extLst>
              <a:ext uri="{FF2B5EF4-FFF2-40B4-BE49-F238E27FC236}">
                <a16:creationId xmlns:a16="http://schemas.microsoft.com/office/drawing/2014/main" id="{0B193C47-2700-3613-A7C9-7D6C5D58C8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064" y="2015835"/>
            <a:ext cx="7190659" cy="4125191"/>
          </a:xfrm>
          <a:prstGeom prst="rect">
            <a:avLst/>
          </a:prstGeom>
        </p:spPr>
      </p:pic>
      <p:sp>
        <p:nvSpPr>
          <p:cNvPr id="7" name="TextBox 6">
            <a:extLst>
              <a:ext uri="{FF2B5EF4-FFF2-40B4-BE49-F238E27FC236}">
                <a16:creationId xmlns:a16="http://schemas.microsoft.com/office/drawing/2014/main" id="{FD159A0E-B08E-C1C5-0BED-3149F3B3CF31}"/>
              </a:ext>
            </a:extLst>
          </p:cNvPr>
          <p:cNvSpPr txBox="1"/>
          <p:nvPr/>
        </p:nvSpPr>
        <p:spPr>
          <a:xfrm>
            <a:off x="841664" y="1496291"/>
            <a:ext cx="11642015" cy="461665"/>
          </a:xfrm>
          <a:prstGeom prst="rect">
            <a:avLst/>
          </a:prstGeom>
          <a:noFill/>
        </p:spPr>
        <p:txBody>
          <a:bodyPr wrap="square" rtlCol="0">
            <a:spAutoFit/>
          </a:bodyPr>
          <a:lstStyle/>
          <a:p>
            <a:r>
              <a:rPr lang="en-US" sz="2400" b="1" dirty="0">
                <a:solidFill>
                  <a:srgbClr val="6B0000"/>
                </a:solidFill>
              </a:rPr>
              <a:t>8. Major Crimes in Boston Per Day and Hour </a:t>
            </a:r>
          </a:p>
        </p:txBody>
      </p:sp>
    </p:spTree>
    <p:extLst>
      <p:ext uri="{BB962C8B-B14F-4D97-AF65-F5344CB8AC3E}">
        <p14:creationId xmlns:p14="http://schemas.microsoft.com/office/powerpoint/2010/main" val="4274343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3AD767-5C62-2B03-9E25-8D37C84FA97A}"/>
              </a:ext>
            </a:extLst>
          </p:cNvPr>
          <p:cNvSpPr txBox="1"/>
          <p:nvPr/>
        </p:nvSpPr>
        <p:spPr>
          <a:xfrm>
            <a:off x="1752602" y="4855937"/>
            <a:ext cx="9503228" cy="923330"/>
          </a:xfrm>
          <a:prstGeom prst="rect">
            <a:avLst/>
          </a:prstGeom>
          <a:noFill/>
        </p:spPr>
        <p:txBody>
          <a:bodyPr wrap="square" rtlCol="0">
            <a:spAutoFit/>
          </a:bodyPr>
          <a:lstStyle/>
          <a:p>
            <a:endParaRPr lang="en-IN" dirty="0"/>
          </a:p>
          <a:p>
            <a:r>
              <a:rPr lang="en-IN" dirty="0"/>
              <a:t>Looking at the result we can see the top 10 locations in Boston where Motor Vehicle Accident Response is more likely to happen are BLUE HILL AVE, WASHINGTON ST and DORCHESTER AVE.</a:t>
            </a:r>
            <a:endParaRPr lang="en-US" dirty="0"/>
          </a:p>
        </p:txBody>
      </p:sp>
      <p:sp>
        <p:nvSpPr>
          <p:cNvPr id="4" name="TextBox 3">
            <a:extLst>
              <a:ext uri="{FF2B5EF4-FFF2-40B4-BE49-F238E27FC236}">
                <a16:creationId xmlns:a16="http://schemas.microsoft.com/office/drawing/2014/main" id="{D78F12AE-9609-9D66-52BC-93AD63778F04}"/>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Data Analysis </a:t>
            </a:r>
            <a:r>
              <a:rPr lang="en-US" sz="2900" dirty="0">
                <a:solidFill>
                  <a:schemeClr val="bg1"/>
                </a:solidFill>
              </a:rPr>
              <a:t>– Visualization in Python</a:t>
            </a:r>
            <a:endParaRPr lang="en-US" sz="2900" dirty="0">
              <a:solidFill>
                <a:schemeClr val="bg1"/>
              </a:solidFill>
              <a:ea typeface="Montserrat Light" charset="0"/>
              <a:cs typeface="Montserrat Light" charset="0"/>
            </a:endParaRPr>
          </a:p>
        </p:txBody>
      </p:sp>
      <p:sp>
        <p:nvSpPr>
          <p:cNvPr id="6" name="TextBox 5">
            <a:extLst>
              <a:ext uri="{FF2B5EF4-FFF2-40B4-BE49-F238E27FC236}">
                <a16:creationId xmlns:a16="http://schemas.microsoft.com/office/drawing/2014/main" id="{8D073F00-0CED-010F-315F-5E5EA22AE0CC}"/>
              </a:ext>
            </a:extLst>
          </p:cNvPr>
          <p:cNvSpPr txBox="1"/>
          <p:nvPr/>
        </p:nvSpPr>
        <p:spPr>
          <a:xfrm>
            <a:off x="948171" y="1355732"/>
            <a:ext cx="9141402" cy="461665"/>
          </a:xfrm>
          <a:prstGeom prst="rect">
            <a:avLst/>
          </a:prstGeom>
          <a:noFill/>
        </p:spPr>
        <p:txBody>
          <a:bodyPr wrap="square">
            <a:spAutoFit/>
          </a:bodyPr>
          <a:lstStyle/>
          <a:p>
            <a:r>
              <a:rPr lang="en-IN" sz="2400" b="1" dirty="0">
                <a:solidFill>
                  <a:srgbClr val="6B0000"/>
                </a:solidFill>
              </a:rPr>
              <a:t>8. </a:t>
            </a:r>
            <a:r>
              <a:rPr lang="en-IN" sz="2400" b="1" dirty="0" err="1">
                <a:solidFill>
                  <a:srgbClr val="6B0000"/>
                </a:solidFill>
              </a:rPr>
              <a:t>Analyzing</a:t>
            </a:r>
            <a:r>
              <a:rPr lang="en-IN" sz="2400" b="1" dirty="0">
                <a:solidFill>
                  <a:srgbClr val="6B0000"/>
                </a:solidFill>
              </a:rPr>
              <a:t> Motor Vehicle Accident Response in different location</a:t>
            </a:r>
          </a:p>
        </p:txBody>
      </p:sp>
      <p:pic>
        <p:nvPicPr>
          <p:cNvPr id="8" name="Picture 7">
            <a:extLst>
              <a:ext uri="{FF2B5EF4-FFF2-40B4-BE49-F238E27FC236}">
                <a16:creationId xmlns:a16="http://schemas.microsoft.com/office/drawing/2014/main" id="{95685C28-A0A7-2DF7-1EE0-B54315A9E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300" y="1817397"/>
            <a:ext cx="10681855" cy="3038540"/>
          </a:xfrm>
          <a:prstGeom prst="rect">
            <a:avLst/>
          </a:prstGeom>
        </p:spPr>
      </p:pic>
    </p:spTree>
    <p:extLst>
      <p:ext uri="{BB962C8B-B14F-4D97-AF65-F5344CB8AC3E}">
        <p14:creationId xmlns:p14="http://schemas.microsoft.com/office/powerpoint/2010/main" val="1076711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Key Performance Indicators (KPI)</a:t>
            </a:r>
            <a:endParaRPr lang="en-US" sz="2900" dirty="0">
              <a:solidFill>
                <a:schemeClr val="bg1"/>
              </a:solidFill>
              <a:ea typeface="Montserrat Light" charset="0"/>
              <a:cs typeface="Montserrat Light" charset="0"/>
            </a:endParaRPr>
          </a:p>
        </p:txBody>
      </p:sp>
      <p:sp>
        <p:nvSpPr>
          <p:cNvPr id="3" name="TextBox 2">
            <a:extLst>
              <a:ext uri="{FF2B5EF4-FFF2-40B4-BE49-F238E27FC236}">
                <a16:creationId xmlns:a16="http://schemas.microsoft.com/office/drawing/2014/main" id="{E9D5B09E-2CF0-F658-BF35-44FFB08E852A}"/>
              </a:ext>
            </a:extLst>
          </p:cNvPr>
          <p:cNvSpPr txBox="1"/>
          <p:nvPr/>
        </p:nvSpPr>
        <p:spPr>
          <a:xfrm>
            <a:off x="2680855" y="2119745"/>
            <a:ext cx="8637814" cy="3046988"/>
          </a:xfrm>
          <a:prstGeom prst="rect">
            <a:avLst/>
          </a:prstGeom>
          <a:noFill/>
        </p:spPr>
        <p:txBody>
          <a:bodyPr wrap="none" rtlCol="0">
            <a:spAutoFit/>
          </a:bodyPr>
          <a:lstStyle/>
          <a:p>
            <a:pPr marL="285750" indent="-285750">
              <a:buFont typeface="Arial" panose="020B0604020202020204" pitchFamily="34" charset="0"/>
              <a:buChar char="•"/>
            </a:pPr>
            <a:r>
              <a:rPr lang="en-US" sz="2400" dirty="0">
                <a:solidFill>
                  <a:srgbClr val="6B0000"/>
                </a:solidFill>
              </a:rPr>
              <a:t>Crimes in Boston</a:t>
            </a:r>
          </a:p>
          <a:p>
            <a:pPr marL="285750" indent="-285750">
              <a:buFont typeface="Arial" panose="020B0604020202020204" pitchFamily="34" charset="0"/>
              <a:buChar char="•"/>
            </a:pPr>
            <a:r>
              <a:rPr lang="en-US" sz="2400" dirty="0">
                <a:solidFill>
                  <a:srgbClr val="6B0000"/>
                </a:solidFill>
              </a:rPr>
              <a:t>Top 10 Crimes in Boston</a:t>
            </a:r>
          </a:p>
          <a:p>
            <a:pPr marL="285750" indent="-285750">
              <a:buFont typeface="Arial" panose="020B0604020202020204" pitchFamily="34" charset="0"/>
              <a:buChar char="•"/>
            </a:pPr>
            <a:r>
              <a:rPr lang="en-IN" sz="2400" dirty="0">
                <a:solidFill>
                  <a:srgbClr val="6B0000"/>
                </a:solidFill>
              </a:rPr>
              <a:t>Percentage of Crimes per Year in Boston</a:t>
            </a:r>
          </a:p>
          <a:p>
            <a:pPr marL="285750" indent="-285750">
              <a:buFont typeface="Arial" panose="020B0604020202020204" pitchFamily="34" charset="0"/>
              <a:buChar char="•"/>
            </a:pPr>
            <a:r>
              <a:rPr lang="en-US" sz="2400" dirty="0">
                <a:solidFill>
                  <a:srgbClr val="6B0000"/>
                </a:solidFill>
              </a:rPr>
              <a:t>Major Crime in Boston Per Month</a:t>
            </a:r>
          </a:p>
          <a:p>
            <a:pPr marL="285750" indent="-285750">
              <a:buFont typeface="Arial" panose="020B0604020202020204" pitchFamily="34" charset="0"/>
              <a:buChar char="•"/>
            </a:pPr>
            <a:r>
              <a:rPr lang="en-US" sz="2400" dirty="0">
                <a:solidFill>
                  <a:srgbClr val="6B0000"/>
                </a:solidFill>
              </a:rPr>
              <a:t>Major Crime in Boston Per Day</a:t>
            </a:r>
          </a:p>
          <a:p>
            <a:pPr marL="285750" indent="-285750">
              <a:buFont typeface="Arial" panose="020B0604020202020204" pitchFamily="34" charset="0"/>
              <a:buChar char="•"/>
            </a:pPr>
            <a:r>
              <a:rPr lang="en-US" sz="2400" dirty="0">
                <a:solidFill>
                  <a:srgbClr val="6B0000"/>
                </a:solidFill>
              </a:rPr>
              <a:t>District wise Crime in Boston</a:t>
            </a:r>
          </a:p>
          <a:p>
            <a:pPr marL="285750" indent="-285750">
              <a:buFont typeface="Arial" panose="020B0604020202020204" pitchFamily="34" charset="0"/>
              <a:buChar char="•"/>
            </a:pPr>
            <a:r>
              <a:rPr lang="en-US" sz="2400" dirty="0">
                <a:solidFill>
                  <a:srgbClr val="6B0000"/>
                </a:solidFill>
              </a:rPr>
              <a:t>Major Crimes in Boston Per Day and Hour</a:t>
            </a:r>
          </a:p>
          <a:p>
            <a:pPr marL="285750" indent="-285750">
              <a:buFont typeface="Arial" panose="020B0604020202020204" pitchFamily="34" charset="0"/>
              <a:buChar char="•"/>
            </a:pPr>
            <a:r>
              <a:rPr lang="en-IN" sz="2400" dirty="0" err="1">
                <a:solidFill>
                  <a:srgbClr val="6B0000"/>
                </a:solidFill>
              </a:rPr>
              <a:t>Analyzing</a:t>
            </a:r>
            <a:r>
              <a:rPr lang="en-IN" sz="2400" dirty="0">
                <a:solidFill>
                  <a:srgbClr val="6B0000"/>
                </a:solidFill>
              </a:rPr>
              <a:t> Motor Vehicle Accident Response in different location</a:t>
            </a:r>
            <a:endParaRPr lang="en-US" sz="2400" dirty="0"/>
          </a:p>
        </p:txBody>
      </p:sp>
    </p:spTree>
    <p:extLst>
      <p:ext uri="{BB962C8B-B14F-4D97-AF65-F5344CB8AC3E}">
        <p14:creationId xmlns:p14="http://schemas.microsoft.com/office/powerpoint/2010/main" val="3401353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6384940" cy="538609"/>
          </a:xfrm>
          <a:prstGeom prst="rect">
            <a:avLst/>
          </a:prstGeom>
          <a:noFill/>
        </p:spPr>
        <p:txBody>
          <a:bodyPr wrap="square" lIns="0" rtlCol="0">
            <a:spAutoFit/>
          </a:bodyPr>
          <a:lstStyle/>
          <a:p>
            <a:r>
              <a:rPr lang="en-US" sz="2900" b="1" dirty="0">
                <a:solidFill>
                  <a:schemeClr val="bg1"/>
                </a:solidFill>
              </a:rPr>
              <a:t>Conclusion</a:t>
            </a:r>
            <a:endParaRPr lang="en-US" sz="2900" dirty="0">
              <a:solidFill>
                <a:schemeClr val="bg1"/>
              </a:solidFill>
              <a:ea typeface="Montserrat Light" charset="0"/>
              <a:cs typeface="Montserrat Light" charset="0"/>
            </a:endParaRPr>
          </a:p>
        </p:txBody>
      </p:sp>
      <p:sp>
        <p:nvSpPr>
          <p:cNvPr id="3" name="TextBox 2">
            <a:extLst>
              <a:ext uri="{FF2B5EF4-FFF2-40B4-BE49-F238E27FC236}">
                <a16:creationId xmlns:a16="http://schemas.microsoft.com/office/drawing/2014/main" id="{6D195028-0226-6EF3-C3CD-17A676E10872}"/>
              </a:ext>
            </a:extLst>
          </p:cNvPr>
          <p:cNvSpPr txBox="1"/>
          <p:nvPr/>
        </p:nvSpPr>
        <p:spPr>
          <a:xfrm>
            <a:off x="462900" y="1413164"/>
            <a:ext cx="10696938" cy="5078313"/>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6B0000"/>
                </a:solidFill>
              </a:rPr>
              <a:t>The Top most Crime incident that has frequently in Boston is Motor Vehicle Accident Response and </a:t>
            </a:r>
            <a:r>
              <a:rPr lang="en-IN" dirty="0" err="1">
                <a:solidFill>
                  <a:srgbClr val="6B0000"/>
                </a:solidFill>
              </a:rPr>
              <a:t>Larcency</a:t>
            </a:r>
            <a:r>
              <a:rPr lang="en-IN" dirty="0">
                <a:solidFill>
                  <a:srgbClr val="6B0000"/>
                </a:solidFill>
              </a:rPr>
              <a:t>.</a:t>
            </a:r>
          </a:p>
          <a:p>
            <a:endParaRPr lang="en-IN" dirty="0">
              <a:solidFill>
                <a:srgbClr val="6B0000"/>
              </a:solidFill>
            </a:endParaRPr>
          </a:p>
          <a:p>
            <a:pPr marL="285750" indent="-285750">
              <a:buFont typeface="Arial" panose="020B0604020202020204" pitchFamily="34" charset="0"/>
              <a:buChar char="•"/>
            </a:pPr>
            <a:r>
              <a:rPr lang="en-IN" dirty="0">
                <a:solidFill>
                  <a:srgbClr val="6B0000"/>
                </a:solidFill>
              </a:rPr>
              <a:t>In 2017 Crime rate was more whereas In 2015 Crime rate is less in Boston.</a:t>
            </a:r>
          </a:p>
          <a:p>
            <a:pPr marL="285750" indent="-285750">
              <a:buFont typeface="Arial" panose="020B0604020202020204" pitchFamily="34" charset="0"/>
              <a:buChar char="•"/>
            </a:pPr>
            <a:r>
              <a:rPr lang="en-IN" dirty="0">
                <a:solidFill>
                  <a:srgbClr val="6B0000"/>
                </a:solidFill>
              </a:rPr>
              <a:t>In the month of July and August the Crime rate is very high in Boston.</a:t>
            </a:r>
          </a:p>
          <a:p>
            <a:endParaRPr lang="en-IN" dirty="0">
              <a:solidFill>
                <a:srgbClr val="6B0000"/>
              </a:solidFill>
            </a:endParaRPr>
          </a:p>
          <a:p>
            <a:pPr marL="285750" indent="-285750">
              <a:buFont typeface="Arial" panose="020B0604020202020204" pitchFamily="34" charset="0"/>
              <a:buChar char="•"/>
            </a:pPr>
            <a:r>
              <a:rPr lang="en-IN" dirty="0">
                <a:solidFill>
                  <a:srgbClr val="6B0000"/>
                </a:solidFill>
              </a:rPr>
              <a:t>Crime rate is high on Friday in Boston </a:t>
            </a:r>
            <a:r>
              <a:rPr lang="en-IN" dirty="0" err="1">
                <a:solidFill>
                  <a:srgbClr val="6B0000"/>
                </a:solidFill>
              </a:rPr>
              <a:t>i.e</a:t>
            </a:r>
            <a:r>
              <a:rPr lang="en-IN" dirty="0">
                <a:solidFill>
                  <a:srgbClr val="6B0000"/>
                </a:solidFill>
              </a:rPr>
              <a:t>, 15.185%</a:t>
            </a:r>
          </a:p>
          <a:p>
            <a:endParaRPr lang="en-IN" dirty="0">
              <a:solidFill>
                <a:srgbClr val="6B0000"/>
              </a:solidFill>
            </a:endParaRPr>
          </a:p>
          <a:p>
            <a:pPr marL="285750" indent="-285750">
              <a:buFont typeface="Arial" panose="020B0604020202020204" pitchFamily="34" charset="0"/>
              <a:buChar char="•"/>
            </a:pPr>
            <a:r>
              <a:rPr lang="en-IN" dirty="0">
                <a:solidFill>
                  <a:srgbClr val="6B0000"/>
                </a:solidFill>
              </a:rPr>
              <a:t>B2,C11,D4 and A1 districts has the majority crime numbers in Motor Vehicle Accident, and </a:t>
            </a:r>
            <a:r>
              <a:rPr lang="en-IN" dirty="0" err="1">
                <a:solidFill>
                  <a:srgbClr val="6B0000"/>
                </a:solidFill>
              </a:rPr>
              <a:t>Larcency</a:t>
            </a:r>
            <a:r>
              <a:rPr lang="en-IN" dirty="0">
                <a:solidFill>
                  <a:srgbClr val="6B0000"/>
                </a:solidFill>
              </a:rPr>
              <a:t>.</a:t>
            </a:r>
          </a:p>
          <a:p>
            <a:endParaRPr lang="en-IN" dirty="0">
              <a:solidFill>
                <a:srgbClr val="6B0000"/>
              </a:solidFill>
            </a:endParaRPr>
          </a:p>
          <a:p>
            <a:pPr marL="285750" indent="-285750">
              <a:buFont typeface="Arial" panose="020B0604020202020204" pitchFamily="34" charset="0"/>
              <a:buChar char="•"/>
            </a:pPr>
            <a:r>
              <a:rPr lang="en-IN" dirty="0">
                <a:solidFill>
                  <a:srgbClr val="6B0000"/>
                </a:solidFill>
              </a:rPr>
              <a:t>The crime rate increases at noon and after work hours on weekdays. </a:t>
            </a:r>
          </a:p>
          <a:p>
            <a:endParaRPr lang="en-IN" dirty="0">
              <a:solidFill>
                <a:srgbClr val="6B0000"/>
              </a:solidFill>
            </a:endParaRPr>
          </a:p>
          <a:p>
            <a:pPr marL="285750" indent="-285750">
              <a:buFont typeface="Arial" panose="020B0604020202020204" pitchFamily="34" charset="0"/>
              <a:buChar char="•"/>
            </a:pPr>
            <a:r>
              <a:rPr lang="en-IN" dirty="0">
                <a:solidFill>
                  <a:srgbClr val="6B0000"/>
                </a:solidFill>
              </a:rPr>
              <a:t>The crime rate increases at midnight on weekends, </a:t>
            </a:r>
            <a:r>
              <a:rPr lang="en-IN" dirty="0" err="1">
                <a:solidFill>
                  <a:srgbClr val="6B0000"/>
                </a:solidFill>
              </a:rPr>
              <a:t>i.e</a:t>
            </a:r>
            <a:r>
              <a:rPr lang="en-IN" dirty="0">
                <a:solidFill>
                  <a:srgbClr val="6B0000"/>
                </a:solidFill>
              </a:rPr>
              <a:t> Fridays, Saturdays and Sundays.</a:t>
            </a:r>
          </a:p>
          <a:p>
            <a:pPr marL="285750" indent="-285750">
              <a:buFont typeface="Arial" panose="020B0604020202020204" pitchFamily="34" charset="0"/>
              <a:buChar char="•"/>
            </a:pPr>
            <a:endParaRPr lang="en-IN" dirty="0">
              <a:solidFill>
                <a:srgbClr val="6B0000"/>
              </a:solidFill>
            </a:endParaRPr>
          </a:p>
          <a:p>
            <a:pPr marL="285750" indent="-285750">
              <a:buFont typeface="Arial" panose="020B0604020202020204" pitchFamily="34" charset="0"/>
              <a:buChar char="•"/>
            </a:pPr>
            <a:r>
              <a:rPr lang="en-IN" dirty="0">
                <a:solidFill>
                  <a:srgbClr val="6B0000"/>
                </a:solidFill>
              </a:rPr>
              <a:t>The top 10 locations in Boston where Motor Vehicle Accident Response is more likely to happen are BLUE HILL AVE, WASHINGTON ST and DORCHESTER AVE.</a:t>
            </a:r>
          </a:p>
          <a:p>
            <a:endParaRPr lang="en-IN" dirty="0"/>
          </a:p>
          <a:p>
            <a:endParaRPr lang="en-US" dirty="0"/>
          </a:p>
          <a:p>
            <a:endParaRPr lang="en-US" dirty="0"/>
          </a:p>
        </p:txBody>
      </p:sp>
    </p:spTree>
    <p:extLst>
      <p:ext uri="{BB962C8B-B14F-4D97-AF65-F5344CB8AC3E}">
        <p14:creationId xmlns:p14="http://schemas.microsoft.com/office/powerpoint/2010/main" val="2394449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BE84B-AAFB-4257-BE29-4C7631F83645}"/>
              </a:ext>
            </a:extLst>
          </p:cNvPr>
          <p:cNvSpPr txBox="1"/>
          <p:nvPr/>
        </p:nvSpPr>
        <p:spPr>
          <a:xfrm>
            <a:off x="462900" y="486315"/>
            <a:ext cx="2066940" cy="538609"/>
          </a:xfrm>
          <a:prstGeom prst="rect">
            <a:avLst/>
          </a:prstGeom>
          <a:noFill/>
        </p:spPr>
        <p:txBody>
          <a:bodyPr wrap="square" lIns="0" rtlCol="0">
            <a:spAutoFit/>
          </a:bodyPr>
          <a:lstStyle/>
          <a:p>
            <a:r>
              <a:rPr lang="en-US" sz="2900" b="1" dirty="0">
                <a:solidFill>
                  <a:schemeClr val="bg1"/>
                </a:solidFill>
                <a:ea typeface="Montserrat Light" charset="0"/>
                <a:cs typeface="Montserrat Light" charset="0"/>
              </a:rPr>
              <a:t>FAQ</a:t>
            </a:r>
            <a:endParaRPr lang="en-US" sz="2900" dirty="0">
              <a:solidFill>
                <a:schemeClr val="bg1"/>
              </a:solidFill>
              <a:ea typeface="Montserrat Light" charset="0"/>
              <a:cs typeface="Montserrat Light" charset="0"/>
            </a:endParaRPr>
          </a:p>
        </p:txBody>
      </p:sp>
      <p:sp>
        <p:nvSpPr>
          <p:cNvPr id="5" name="TextBox 4">
            <a:extLst>
              <a:ext uri="{FF2B5EF4-FFF2-40B4-BE49-F238E27FC236}">
                <a16:creationId xmlns:a16="http://schemas.microsoft.com/office/drawing/2014/main" id="{B05F185D-EC5E-45EF-9DEF-4E4F93B596AF}"/>
              </a:ext>
            </a:extLst>
          </p:cNvPr>
          <p:cNvSpPr txBox="1"/>
          <p:nvPr/>
        </p:nvSpPr>
        <p:spPr>
          <a:xfrm>
            <a:off x="1496370" y="1174325"/>
            <a:ext cx="7827660" cy="5078313"/>
          </a:xfrm>
          <a:prstGeom prst="rect">
            <a:avLst/>
          </a:prstGeom>
          <a:noFill/>
        </p:spPr>
        <p:txBody>
          <a:bodyPr wrap="square" lIns="0" rtlCol="0" anchor="ctr" anchorCtr="0">
            <a:spAutoFit/>
          </a:bodyPr>
          <a:lstStyle/>
          <a:p>
            <a:r>
              <a:rPr lang="en-US" sz="1600" b="1" dirty="0">
                <a:solidFill>
                  <a:srgbClr val="6B0000"/>
                </a:solidFill>
              </a:rPr>
              <a:t>Q1) What’s the source of data?</a:t>
            </a:r>
            <a:endParaRPr lang="en-US" sz="1600" dirty="0">
              <a:solidFill>
                <a:srgbClr val="6B0000"/>
              </a:solidFill>
            </a:endParaRPr>
          </a:p>
          <a:p>
            <a:r>
              <a:rPr lang="en-US" sz="1600" dirty="0"/>
              <a:t>The Dataset was taken from </a:t>
            </a:r>
            <a:r>
              <a:rPr lang="en-US" sz="1600" dirty="0" err="1"/>
              <a:t>iNeuron’s</a:t>
            </a:r>
            <a:r>
              <a:rPr lang="en-US" sz="1600" dirty="0"/>
              <a:t> Provided Project Description Document. </a:t>
            </a:r>
          </a:p>
          <a:p>
            <a:r>
              <a:rPr lang="en-IN" dirty="0">
                <a:hlinkClick r:id="rId2"/>
              </a:rPr>
              <a:t>https://data.boston.gov/dataset/crime-incident-reports-august-2015-to-date-source-new-system</a:t>
            </a:r>
            <a:r>
              <a:rPr lang="en-IN" dirty="0"/>
              <a:t> </a:t>
            </a:r>
          </a:p>
          <a:p>
            <a:endParaRPr lang="en-US" sz="1600" dirty="0"/>
          </a:p>
          <a:p>
            <a:r>
              <a:rPr lang="en-US" sz="1600" b="1" dirty="0">
                <a:solidFill>
                  <a:srgbClr val="6B0000"/>
                </a:solidFill>
              </a:rPr>
              <a:t>Q2) What was the type of data?</a:t>
            </a:r>
          </a:p>
          <a:p>
            <a:r>
              <a:rPr lang="en-US" sz="1600" dirty="0"/>
              <a:t>The data was the combination of numerical and Categorical values.</a:t>
            </a:r>
          </a:p>
          <a:p>
            <a:endParaRPr lang="en-US" sz="1600" dirty="0"/>
          </a:p>
          <a:p>
            <a:r>
              <a:rPr lang="en-US" sz="1600" b="1" dirty="0">
                <a:solidFill>
                  <a:srgbClr val="6B0000"/>
                </a:solidFill>
              </a:rPr>
              <a:t>Q 3) What’s the complete flow you followed in this Project?</a:t>
            </a:r>
            <a:endParaRPr lang="en-US" sz="1600" dirty="0">
              <a:solidFill>
                <a:srgbClr val="6B0000"/>
              </a:solidFill>
            </a:endParaRPr>
          </a:p>
          <a:p>
            <a:r>
              <a:rPr lang="en-US" sz="1600" dirty="0"/>
              <a:t>Please refer slide 5</a:t>
            </a:r>
            <a:r>
              <a:rPr lang="en-US" sz="1600" baseline="30000" dirty="0"/>
              <a:t>th</a:t>
            </a:r>
            <a:r>
              <a:rPr lang="en-US" sz="1600" dirty="0"/>
              <a:t> for better Understanding </a:t>
            </a:r>
          </a:p>
          <a:p>
            <a:endParaRPr lang="en-US" sz="1600" dirty="0"/>
          </a:p>
          <a:p>
            <a:r>
              <a:rPr lang="en-US" sz="1600" b="1" dirty="0">
                <a:solidFill>
                  <a:srgbClr val="6B0000"/>
                </a:solidFill>
              </a:rPr>
              <a:t>Q4) What techniques were you using for data?</a:t>
            </a:r>
            <a:endParaRPr lang="en-US" sz="1600" dirty="0">
              <a:solidFill>
                <a:srgbClr val="6B0000"/>
              </a:solidFill>
            </a:endParaRPr>
          </a:p>
          <a:p>
            <a:r>
              <a:rPr lang="en-US" sz="1600" dirty="0"/>
              <a:t>Removing unwanted attributes</a:t>
            </a:r>
          </a:p>
          <a:p>
            <a:r>
              <a:rPr lang="en-US" sz="1600" dirty="0"/>
              <a:t>- Visualizing relation of independent variables with each other and output variables</a:t>
            </a:r>
          </a:p>
          <a:p>
            <a:r>
              <a:rPr lang="en-US" sz="1600" dirty="0"/>
              <a:t>- Cleaning data and imputing if null values are present. </a:t>
            </a:r>
          </a:p>
          <a:p>
            <a:pPr marL="285750" indent="-285750">
              <a:buFontTx/>
              <a:buChar char="-"/>
            </a:pPr>
            <a:r>
              <a:rPr lang="en-US" sz="1600" dirty="0"/>
              <a:t>Converting Numerical data into Categorical values.</a:t>
            </a:r>
          </a:p>
          <a:p>
            <a:pPr marL="285750" indent="-285750">
              <a:buFontTx/>
              <a:buChar char="-"/>
            </a:pPr>
            <a:r>
              <a:rPr lang="en-US" sz="1600" dirty="0"/>
              <a:t>Finding the Correlation among the attributes.</a:t>
            </a:r>
          </a:p>
          <a:p>
            <a:endParaRPr lang="en-US" sz="1600" dirty="0"/>
          </a:p>
          <a:p>
            <a:r>
              <a:rPr lang="en-US" sz="1600" b="1" dirty="0">
                <a:solidFill>
                  <a:srgbClr val="6B0000"/>
                </a:solidFill>
              </a:rPr>
              <a:t>Q 6) What were the libraries that you used in Python?</a:t>
            </a:r>
            <a:endParaRPr lang="en-US" sz="1600" dirty="0">
              <a:solidFill>
                <a:srgbClr val="6B0000"/>
              </a:solidFill>
            </a:endParaRPr>
          </a:p>
          <a:p>
            <a:r>
              <a:rPr lang="en-US" sz="1600" dirty="0"/>
              <a:t>I used Pandas, NumPy and Matplotlib and Seaborn libraries in Pandas.</a:t>
            </a:r>
            <a:endParaRPr lang="en-US" sz="2000" dirty="0">
              <a:solidFill>
                <a:srgbClr val="6B0000"/>
              </a:solidFill>
            </a:endParaRPr>
          </a:p>
        </p:txBody>
      </p:sp>
    </p:spTree>
    <p:extLst>
      <p:ext uri="{BB962C8B-B14F-4D97-AF65-F5344CB8AC3E}">
        <p14:creationId xmlns:p14="http://schemas.microsoft.com/office/powerpoint/2010/main" val="2771704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1065</Words>
  <Application>Microsoft Macintosh PowerPoint</Application>
  <PresentationFormat>Widescreen</PresentationFormat>
  <Paragraphs>134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Nath, Manoj</dc:creator>
  <cp:lastModifiedBy>Microsoft Office User</cp:lastModifiedBy>
  <cp:revision>80</cp:revision>
  <dcterms:created xsi:type="dcterms:W3CDTF">2022-05-02T13:32:18Z</dcterms:created>
  <dcterms:modified xsi:type="dcterms:W3CDTF">2022-05-13T14:02:19Z</dcterms:modified>
</cp:coreProperties>
</file>